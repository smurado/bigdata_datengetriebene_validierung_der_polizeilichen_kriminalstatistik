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>
  <p:sldMasterIdLst>
    <p:sldMasterId id="2147483660" r:id="rId1"/>
    <p:sldMasterId id="2147483648" r:id="rId2"/>
    <p:sldMasterId id="2147483666" r:id="rId3"/>
  </p:sldMasterIdLst>
  <p:notesMasterIdLst>
    <p:notesMasterId r:id="rId19"/>
  </p:notesMasterIdLst>
  <p:handoutMasterIdLst>
    <p:handoutMasterId r:id="rId20"/>
  </p:handoutMasterIdLst>
  <p:sldIdLst>
    <p:sldId id="290" r:id="rId4"/>
    <p:sldId id="287" r:id="rId5"/>
    <p:sldId id="293" r:id="rId6"/>
    <p:sldId id="289" r:id="rId7"/>
    <p:sldId id="303" r:id="rId8"/>
    <p:sldId id="300" r:id="rId9"/>
    <p:sldId id="302" r:id="rId10"/>
    <p:sldId id="295" r:id="rId11"/>
    <p:sldId id="294" r:id="rId12"/>
    <p:sldId id="296" r:id="rId13"/>
    <p:sldId id="297" r:id="rId14"/>
    <p:sldId id="298" r:id="rId15"/>
    <p:sldId id="299" r:id="rId16"/>
    <p:sldId id="292" r:id="rId17"/>
    <p:sldId id="301" r:id="rId18"/>
  </p:sldIdLst>
  <p:sldSz cx="9144000" cy="5143500" type="screen16x9"/>
  <p:notesSz cx="6858000" cy="9144000"/>
  <p:embeddedFontLs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Serif" pitchFamily="2" charset="77"/>
      <p:regular r:id="rId25"/>
      <p:bold r:id="rId26"/>
      <p:italic r:id="rId27"/>
      <p:boldItalic r:id="rId2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ne Bukatz" initials="SB" lastIdx="6" clrIdx="0">
    <p:extLst>
      <p:ext uri="{19B8F6BF-5375-455C-9EA6-DF929625EA0E}">
        <p15:presenceInfo xmlns:p15="http://schemas.microsoft.com/office/powerpoint/2012/main" userId="S-1-5-21-866499592-3592028529-3545064460-94181" providerId="AD"/>
      </p:ext>
    </p:extLst>
  </p:cmAuthor>
  <p:cmAuthor id="2" name="Susanne Bukatz" initials="SB [2]" lastIdx="15" clrIdx="1">
    <p:extLst>
      <p:ext uri="{19B8F6BF-5375-455C-9EA6-DF929625EA0E}">
        <p15:presenceInfo xmlns:p15="http://schemas.microsoft.com/office/powerpoint/2012/main" userId="Susanne Bukat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64"/>
    <a:srgbClr val="8A1878"/>
    <a:srgbClr val="FFFFFF"/>
    <a:srgbClr val="002F5D"/>
    <a:srgbClr val="BD9F21"/>
    <a:srgbClr val="FFBE64"/>
    <a:srgbClr val="F0AA46"/>
    <a:srgbClr val="F0A050"/>
    <a:srgbClr val="FFB464"/>
    <a:srgbClr val="FAB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64" autoAdjust="0"/>
    <p:restoredTop sz="85975" autoAdjust="0"/>
  </p:normalViewPr>
  <p:slideViewPr>
    <p:cSldViewPr snapToGrid="0" snapToObjects="1">
      <p:cViewPr>
        <p:scale>
          <a:sx n="170" d="100"/>
          <a:sy n="170" d="100"/>
        </p:scale>
        <p:origin x="9944" y="2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18" d="100"/>
          <a:sy n="118" d="100"/>
        </p:scale>
        <p:origin x="5160" y="20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642F8-4030-468B-846F-DE3B6AB6CE0D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AA542-7317-4AC6-A4A4-9C0CA743576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496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B2040-EA4D-4002-BC41-13AC0377AF84}" type="datetimeFigureOut">
              <a:rPr lang="de-DE" smtClean="0"/>
              <a:t>28.01.26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ADD7A-5464-40FD-B5CC-4CA36D7CC1F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30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0895"/>
            <a:ext cx="5486400" cy="4114800"/>
          </a:xfrm>
        </p:spPr>
        <p:txBody>
          <a:bodyPr/>
          <a:lstStyle/>
          <a:p>
            <a:r>
              <a:rPr lang="en-US" dirty="0" err="1"/>
              <a:t>Über</a:t>
            </a:r>
            <a:r>
              <a:rPr lang="en-US" dirty="0"/>
              <a:t> das Thema </a:t>
            </a:r>
            <a:r>
              <a:rPr lang="en-US" dirty="0" err="1"/>
              <a:t>Kriminalität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</a:t>
            </a:r>
            <a:r>
              <a:rPr lang="en-US" dirty="0" err="1"/>
              <a:t>gestritten</a:t>
            </a:r>
            <a:r>
              <a:rPr lang="en-US" dirty="0"/>
              <a:t>, </a:t>
            </a:r>
            <a:r>
              <a:rPr lang="en-US" dirty="0" err="1"/>
              <a:t>meist</a:t>
            </a:r>
            <a:r>
              <a:rPr lang="en-US" dirty="0"/>
              <a:t> emotional. Wir </a:t>
            </a:r>
            <a:r>
              <a:rPr lang="en-US" dirty="0" err="1"/>
              <a:t>lassen</a:t>
            </a:r>
            <a:r>
              <a:rPr lang="en-US" dirty="0"/>
              <a:t> </a:t>
            </a:r>
            <a:r>
              <a:rPr lang="en-US" dirty="0" err="1"/>
              <a:t>heute</a:t>
            </a:r>
            <a:r>
              <a:rPr lang="en-US" dirty="0"/>
              <a:t> die </a:t>
            </a:r>
            <a:r>
              <a:rPr lang="en-US" dirty="0" err="1"/>
              <a:t>Emotionen</a:t>
            </a:r>
            <a:r>
              <a:rPr lang="en-US" dirty="0"/>
              <a:t> </a:t>
            </a:r>
            <a:r>
              <a:rPr lang="en-US" dirty="0" err="1"/>
              <a:t>weg</a:t>
            </a:r>
            <a:r>
              <a:rPr lang="en-US" dirty="0"/>
              <a:t>. Ich </a:t>
            </a:r>
            <a:r>
              <a:rPr lang="en-US" dirty="0" err="1"/>
              <a:t>habe</a:t>
            </a:r>
            <a:r>
              <a:rPr lang="en-US" dirty="0"/>
              <a:t> 50 Jahre </a:t>
            </a:r>
            <a:r>
              <a:rPr lang="en-US" dirty="0" err="1"/>
              <a:t>Polizeidaten</a:t>
            </a:r>
            <a:r>
              <a:rPr lang="en-US" dirty="0"/>
              <a:t>, </a:t>
            </a:r>
            <a:r>
              <a:rPr lang="en-US" dirty="0" err="1"/>
              <a:t>Justizurteile</a:t>
            </a:r>
            <a:r>
              <a:rPr lang="en-US" dirty="0"/>
              <a:t> und </a:t>
            </a:r>
            <a:r>
              <a:rPr lang="en-US" dirty="0" err="1"/>
              <a:t>Gefängnisstatistiken</a:t>
            </a:r>
            <a:r>
              <a:rPr lang="en-US" dirty="0"/>
              <a:t> </a:t>
            </a:r>
            <a:r>
              <a:rPr lang="en-US" dirty="0" err="1"/>
              <a:t>ausgewertet</a:t>
            </a:r>
            <a:r>
              <a:rPr lang="en-US" dirty="0"/>
              <a:t> und </a:t>
            </a:r>
            <a:r>
              <a:rPr lang="en-US" dirty="0" err="1"/>
              <a:t>bereinigt</a:t>
            </a:r>
            <a:r>
              <a:rPr lang="en-US" dirty="0"/>
              <a:t>. Ich </a:t>
            </a:r>
            <a:r>
              <a:rPr lang="en-US" dirty="0" err="1"/>
              <a:t>stelle</a:t>
            </a:r>
            <a:r>
              <a:rPr lang="en-US" dirty="0"/>
              <a:t> </a:t>
            </a:r>
            <a:r>
              <a:rPr lang="en-US" dirty="0" err="1"/>
              <a:t>drei</a:t>
            </a:r>
            <a:r>
              <a:rPr lang="en-US" dirty="0"/>
              <a:t> </a:t>
            </a:r>
            <a:r>
              <a:rPr lang="en-US" dirty="0" err="1"/>
              <a:t>populäre</a:t>
            </a:r>
            <a:r>
              <a:rPr lang="en-US" dirty="0"/>
              <a:t> </a:t>
            </a:r>
            <a:r>
              <a:rPr lang="en-US" dirty="0" err="1"/>
              <a:t>Thesen</a:t>
            </a:r>
            <a:r>
              <a:rPr lang="en-US" dirty="0"/>
              <a:t> auf den </a:t>
            </a:r>
            <a:r>
              <a:rPr lang="en-US" dirty="0" err="1"/>
              <a:t>Prüfstand</a:t>
            </a:r>
            <a:r>
              <a:rPr lang="en-US" dirty="0"/>
              <a:t> der </a:t>
            </a:r>
            <a:r>
              <a:rPr lang="en-US" dirty="0" err="1"/>
              <a:t>Daten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50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819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A22E5-E503-4B89-0E17-44A04458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81D350B-61A6-2D80-5475-08A37D43B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BBD448E-A2E6-9569-6A28-8C7B5894B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0E42EF-ACA0-6FB0-7902-26C0FD895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43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26C2-6083-B3FF-E8D2-1B97C37A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8A0EAC-BD7C-53FB-5643-4A1A63898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38822B-ADE7-6387-D80C-F9CB2BB0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</a:t>
            </a:r>
            <a:r>
              <a:rPr lang="en-US" dirty="0" err="1"/>
              <a:t>folgen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klassischen</a:t>
            </a:r>
            <a:r>
              <a:rPr lang="en-US" dirty="0"/>
              <a:t> </a:t>
            </a:r>
            <a:r>
              <a:rPr lang="en-US" b="1" dirty="0"/>
              <a:t>Medallion-</a:t>
            </a:r>
            <a:r>
              <a:rPr lang="en-US" b="1" dirty="0" err="1"/>
              <a:t>Architektur</a:t>
            </a:r>
            <a:r>
              <a:rPr lang="en-US" dirty="0"/>
              <a:t>: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b="1" dirty="0"/>
              <a:t>Bronze-Layer</a:t>
            </a:r>
            <a:r>
              <a:rPr lang="en-US" dirty="0"/>
              <a:t> laden </a:t>
            </a:r>
            <a:r>
              <a:rPr lang="en-US" dirty="0" err="1"/>
              <a:t>wir</a:t>
            </a:r>
            <a:r>
              <a:rPr lang="en-US" dirty="0"/>
              <a:t> die </a:t>
            </a:r>
            <a:r>
              <a:rPr lang="en-US" dirty="0" err="1"/>
              <a:t>Rohdaten</a:t>
            </a:r>
            <a:r>
              <a:rPr lang="en-US" dirty="0"/>
              <a:t> via Python-</a:t>
            </a:r>
            <a:r>
              <a:rPr lang="en-US" dirty="0" err="1"/>
              <a:t>Skripten</a:t>
            </a:r>
            <a:r>
              <a:rPr lang="en-US" dirty="0"/>
              <a:t> in </a:t>
            </a:r>
            <a:r>
              <a:rPr lang="en-US" dirty="0" err="1"/>
              <a:t>Jahresscheiben</a:t>
            </a:r>
            <a:r>
              <a:rPr lang="en-US" dirty="0"/>
              <a:t> </a:t>
            </a:r>
            <a:r>
              <a:rPr lang="en-US" dirty="0" err="1"/>
              <a:t>herunter</a:t>
            </a:r>
            <a:r>
              <a:rPr lang="en-US" dirty="0"/>
              <a:t>, um API-Timeouts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verhindern</a:t>
            </a:r>
            <a:r>
              <a:rPr lang="en-US" dirty="0"/>
              <a:t>.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b="1" dirty="0"/>
              <a:t>Silver-Layer</a:t>
            </a:r>
            <a:r>
              <a:rPr lang="en-US" dirty="0"/>
              <a:t> </a:t>
            </a:r>
            <a:r>
              <a:rPr lang="en-US" dirty="0" err="1"/>
              <a:t>übernimmt</a:t>
            </a:r>
            <a:r>
              <a:rPr lang="en-US" dirty="0"/>
              <a:t> </a:t>
            </a:r>
            <a:r>
              <a:rPr lang="en-US" b="1" dirty="0"/>
              <a:t>Apache Spark</a:t>
            </a:r>
            <a:r>
              <a:rPr lang="en-US" dirty="0"/>
              <a:t>. Hier </a:t>
            </a:r>
            <a:r>
              <a:rPr lang="en-US" dirty="0" err="1"/>
              <a:t>mappen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unsaubere</a:t>
            </a:r>
            <a:r>
              <a:rPr lang="en-US" dirty="0"/>
              <a:t> Strings auf Zahlen, </a:t>
            </a:r>
            <a:r>
              <a:rPr lang="en-US" dirty="0" err="1"/>
              <a:t>filtern</a:t>
            </a:r>
            <a:r>
              <a:rPr lang="en-US" dirty="0"/>
              <a:t> </a:t>
            </a:r>
            <a:r>
              <a:rPr lang="en-US" dirty="0" err="1"/>
              <a:t>Metadaten</a:t>
            </a:r>
            <a:r>
              <a:rPr lang="en-US" dirty="0"/>
              <a:t> </a:t>
            </a:r>
            <a:r>
              <a:rPr lang="en-US" dirty="0" err="1"/>
              <a:t>raus</a:t>
            </a:r>
            <a:r>
              <a:rPr lang="en-US" dirty="0"/>
              <a:t> und </a:t>
            </a:r>
            <a:r>
              <a:rPr lang="en-US" dirty="0" err="1"/>
              <a:t>speichern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performantes</a:t>
            </a:r>
            <a:r>
              <a:rPr lang="en-US" dirty="0"/>
              <a:t> </a:t>
            </a:r>
            <a:r>
              <a:rPr lang="en-US" b="1" dirty="0"/>
              <a:t>Parquet</a:t>
            </a:r>
            <a:r>
              <a:rPr lang="en-US" dirty="0"/>
              <a:t>.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b="1" dirty="0"/>
              <a:t>Gold-Layer</a:t>
            </a:r>
            <a:r>
              <a:rPr lang="en-US" dirty="0"/>
              <a:t> </a:t>
            </a:r>
            <a:r>
              <a:rPr lang="en-US" dirty="0" err="1"/>
              <a:t>passiert</a:t>
            </a:r>
            <a:r>
              <a:rPr lang="en-US" dirty="0"/>
              <a:t> die Magie: Wir </a:t>
            </a:r>
            <a:r>
              <a:rPr lang="en-US" dirty="0" err="1"/>
              <a:t>joinen</a:t>
            </a:r>
            <a:r>
              <a:rPr lang="en-US" dirty="0"/>
              <a:t> </a:t>
            </a:r>
            <a:r>
              <a:rPr lang="en-US" dirty="0" err="1"/>
              <a:t>Polizei</a:t>
            </a:r>
            <a:r>
              <a:rPr lang="en-US" dirty="0"/>
              <a:t>-, Justiz- und </a:t>
            </a:r>
            <a:r>
              <a:rPr lang="en-US" dirty="0" err="1"/>
              <a:t>Bevölkerungsdaten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das Jahr und </a:t>
            </a:r>
            <a:r>
              <a:rPr lang="en-US" dirty="0" err="1"/>
              <a:t>berechnen</a:t>
            </a:r>
            <a:r>
              <a:rPr lang="en-US" dirty="0"/>
              <a:t> die </a:t>
            </a:r>
            <a:r>
              <a:rPr lang="en-US" dirty="0" err="1"/>
              <a:t>normalisierten</a:t>
            </a:r>
            <a:r>
              <a:rPr lang="en-US" dirty="0"/>
              <a:t> </a:t>
            </a:r>
            <a:r>
              <a:rPr lang="en-US" dirty="0" err="1"/>
              <a:t>Raten</a:t>
            </a:r>
            <a:r>
              <a:rPr lang="en-US" dirty="0"/>
              <a:t> pro Kopf. Das Ganze </a:t>
            </a:r>
            <a:r>
              <a:rPr lang="en-US" dirty="0" err="1"/>
              <a:t>ist</a:t>
            </a:r>
            <a:r>
              <a:rPr lang="en-US" dirty="0"/>
              <a:t> so </a:t>
            </a:r>
            <a:r>
              <a:rPr lang="en-US" dirty="0" err="1"/>
              <a:t>gebaut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es </a:t>
            </a:r>
            <a:r>
              <a:rPr lang="en-US" dirty="0" err="1"/>
              <a:t>lokal</a:t>
            </a:r>
            <a:r>
              <a:rPr lang="en-US" dirty="0"/>
              <a:t> auf dem Laptop </a:t>
            </a:r>
            <a:r>
              <a:rPr lang="en-US" dirty="0" err="1"/>
              <a:t>läuft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Umschalten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Config </a:t>
            </a:r>
            <a:r>
              <a:rPr lang="en-US" dirty="0" err="1"/>
              <a:t>sofort</a:t>
            </a:r>
            <a:r>
              <a:rPr lang="en-US" dirty="0"/>
              <a:t> auf dem </a:t>
            </a:r>
            <a:r>
              <a:rPr lang="en-US" b="1" dirty="0"/>
              <a:t>Hadoop-Cluster</a:t>
            </a:r>
            <a:r>
              <a:rPr lang="en-US" dirty="0"/>
              <a:t> </a:t>
            </a:r>
            <a:r>
              <a:rPr lang="en-US" dirty="0" err="1"/>
              <a:t>skalierbar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."*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FB2D55-6C83-A6F9-460A-56FC1F4E2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577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6B16-0401-B3A6-8C33-2FD5033D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F415F0-F41D-16D0-36E1-9F6477583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3D2F2C3-47C1-4E45-2DC6-63BC27D16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 </a:t>
            </a:r>
            <a:r>
              <a:rPr lang="en-US" dirty="0" err="1"/>
              <a:t>folgen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klassischen</a:t>
            </a:r>
            <a:r>
              <a:rPr lang="en-US" dirty="0"/>
              <a:t> </a:t>
            </a:r>
            <a:r>
              <a:rPr lang="en-US" b="1" dirty="0"/>
              <a:t>Medallion-</a:t>
            </a:r>
            <a:r>
              <a:rPr lang="en-US" b="1" dirty="0" err="1"/>
              <a:t>Architektur</a:t>
            </a:r>
            <a:r>
              <a:rPr lang="en-US" dirty="0"/>
              <a:t>: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b="1" dirty="0"/>
              <a:t>Bronze-Layer</a:t>
            </a:r>
            <a:r>
              <a:rPr lang="en-US" dirty="0"/>
              <a:t> laden </a:t>
            </a:r>
            <a:r>
              <a:rPr lang="en-US" dirty="0" err="1"/>
              <a:t>wir</a:t>
            </a:r>
            <a:r>
              <a:rPr lang="en-US" dirty="0"/>
              <a:t> die </a:t>
            </a:r>
            <a:r>
              <a:rPr lang="en-US" dirty="0" err="1"/>
              <a:t>Rohdaten</a:t>
            </a:r>
            <a:r>
              <a:rPr lang="en-US" dirty="0"/>
              <a:t> via Python-</a:t>
            </a:r>
            <a:r>
              <a:rPr lang="en-US" dirty="0" err="1"/>
              <a:t>Skripten</a:t>
            </a:r>
            <a:r>
              <a:rPr lang="en-US" dirty="0"/>
              <a:t> in </a:t>
            </a:r>
            <a:r>
              <a:rPr lang="en-US" dirty="0" err="1"/>
              <a:t>Jahresscheiben</a:t>
            </a:r>
            <a:r>
              <a:rPr lang="en-US" dirty="0"/>
              <a:t> </a:t>
            </a:r>
            <a:r>
              <a:rPr lang="en-US" dirty="0" err="1"/>
              <a:t>herunter</a:t>
            </a:r>
            <a:r>
              <a:rPr lang="en-US" dirty="0"/>
              <a:t>, um API-Timeouts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verhindern</a:t>
            </a:r>
            <a:r>
              <a:rPr lang="en-US" dirty="0"/>
              <a:t>.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b="1" dirty="0"/>
              <a:t>Silver-Layer</a:t>
            </a:r>
            <a:r>
              <a:rPr lang="en-US" dirty="0"/>
              <a:t> </a:t>
            </a:r>
            <a:r>
              <a:rPr lang="en-US" dirty="0" err="1"/>
              <a:t>übernimmt</a:t>
            </a:r>
            <a:r>
              <a:rPr lang="en-US" dirty="0"/>
              <a:t> </a:t>
            </a:r>
            <a:r>
              <a:rPr lang="en-US" b="1" dirty="0"/>
              <a:t>Apache Spark</a:t>
            </a:r>
            <a:r>
              <a:rPr lang="en-US" dirty="0"/>
              <a:t>. Hier </a:t>
            </a:r>
            <a:r>
              <a:rPr lang="en-US" dirty="0" err="1"/>
              <a:t>mappen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unsaubere</a:t>
            </a:r>
            <a:r>
              <a:rPr lang="en-US" dirty="0"/>
              <a:t> Strings auf Zahlen, </a:t>
            </a:r>
            <a:r>
              <a:rPr lang="en-US" dirty="0" err="1"/>
              <a:t>filtern</a:t>
            </a:r>
            <a:r>
              <a:rPr lang="en-US" dirty="0"/>
              <a:t> </a:t>
            </a:r>
            <a:r>
              <a:rPr lang="en-US" dirty="0" err="1"/>
              <a:t>Metadaten</a:t>
            </a:r>
            <a:r>
              <a:rPr lang="en-US" dirty="0"/>
              <a:t> </a:t>
            </a:r>
            <a:r>
              <a:rPr lang="en-US" dirty="0" err="1"/>
              <a:t>raus</a:t>
            </a:r>
            <a:r>
              <a:rPr lang="en-US" dirty="0"/>
              <a:t> und </a:t>
            </a:r>
            <a:r>
              <a:rPr lang="en-US" dirty="0" err="1"/>
              <a:t>speichern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performantes</a:t>
            </a:r>
            <a:r>
              <a:rPr lang="en-US" dirty="0"/>
              <a:t> </a:t>
            </a:r>
            <a:r>
              <a:rPr lang="en-US" b="1" dirty="0"/>
              <a:t>Parquet</a:t>
            </a:r>
            <a:r>
              <a:rPr lang="en-US" dirty="0"/>
              <a:t>.</a:t>
            </a:r>
          </a:p>
          <a:p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b="1" dirty="0"/>
              <a:t>Gold-Layer</a:t>
            </a:r>
            <a:r>
              <a:rPr lang="en-US" dirty="0"/>
              <a:t> </a:t>
            </a:r>
            <a:r>
              <a:rPr lang="en-US" dirty="0" err="1"/>
              <a:t>passiert</a:t>
            </a:r>
            <a:r>
              <a:rPr lang="en-US" dirty="0"/>
              <a:t> die Magie: Wir </a:t>
            </a:r>
            <a:r>
              <a:rPr lang="en-US" dirty="0" err="1"/>
              <a:t>joinen</a:t>
            </a:r>
            <a:r>
              <a:rPr lang="en-US" dirty="0"/>
              <a:t> </a:t>
            </a:r>
            <a:r>
              <a:rPr lang="en-US" dirty="0" err="1"/>
              <a:t>Polizei</a:t>
            </a:r>
            <a:r>
              <a:rPr lang="en-US" dirty="0"/>
              <a:t>-, Justiz- und </a:t>
            </a:r>
            <a:r>
              <a:rPr lang="en-US" dirty="0" err="1"/>
              <a:t>Bevölkerungsdaten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das Jahr und </a:t>
            </a:r>
            <a:r>
              <a:rPr lang="en-US" dirty="0" err="1"/>
              <a:t>berechnen</a:t>
            </a:r>
            <a:r>
              <a:rPr lang="en-US" dirty="0"/>
              <a:t> die </a:t>
            </a:r>
            <a:r>
              <a:rPr lang="en-US" dirty="0" err="1"/>
              <a:t>normalisierten</a:t>
            </a:r>
            <a:r>
              <a:rPr lang="en-US" dirty="0"/>
              <a:t> </a:t>
            </a:r>
            <a:r>
              <a:rPr lang="en-US" dirty="0" err="1"/>
              <a:t>Raten</a:t>
            </a:r>
            <a:r>
              <a:rPr lang="en-US" dirty="0"/>
              <a:t> pro Kopf. Das Ganze </a:t>
            </a:r>
            <a:r>
              <a:rPr lang="en-US" dirty="0" err="1"/>
              <a:t>ist</a:t>
            </a:r>
            <a:r>
              <a:rPr lang="en-US" dirty="0"/>
              <a:t> so </a:t>
            </a:r>
            <a:r>
              <a:rPr lang="en-US" dirty="0" err="1"/>
              <a:t>gebaut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es </a:t>
            </a:r>
            <a:r>
              <a:rPr lang="en-US" dirty="0" err="1"/>
              <a:t>lokal</a:t>
            </a:r>
            <a:r>
              <a:rPr lang="en-US" dirty="0"/>
              <a:t> auf dem Laptop </a:t>
            </a:r>
            <a:r>
              <a:rPr lang="en-US" dirty="0" err="1"/>
              <a:t>läuft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Umschalten</a:t>
            </a:r>
            <a:r>
              <a:rPr lang="en-US" dirty="0"/>
              <a:t> </a:t>
            </a:r>
            <a:r>
              <a:rPr lang="en-US" dirty="0" err="1"/>
              <a:t>einer</a:t>
            </a:r>
            <a:r>
              <a:rPr lang="en-US" dirty="0"/>
              <a:t> Config </a:t>
            </a:r>
            <a:r>
              <a:rPr lang="en-US" dirty="0" err="1"/>
              <a:t>sofort</a:t>
            </a:r>
            <a:r>
              <a:rPr lang="en-US" dirty="0"/>
              <a:t> auf dem </a:t>
            </a:r>
            <a:r>
              <a:rPr lang="en-US" b="1" dirty="0"/>
              <a:t>Hadoop-Cluster</a:t>
            </a:r>
            <a:r>
              <a:rPr lang="en-US" dirty="0"/>
              <a:t> </a:t>
            </a:r>
            <a:r>
              <a:rPr lang="en-US" dirty="0" err="1"/>
              <a:t>skalierbar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."*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69ACB58-9AD1-B5A6-4841-E68990A8A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274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D87F-A953-7948-A33C-DCBACCAE5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F76210-77B5-6794-CF3E-215065647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D26A4C-378D-FC26-D6B5-22085E372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"Wir </a:t>
            </a:r>
            <a:r>
              <a:rPr lang="en-US" dirty="0" err="1"/>
              <a:t>haben</a:t>
            </a:r>
            <a:r>
              <a:rPr lang="en-US" dirty="0"/>
              <a:t> die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den </a:t>
            </a:r>
            <a:r>
              <a:rPr lang="en-US" dirty="0" err="1"/>
              <a:t>Schlüssel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Jahr</a:t>
            </a:r>
            <a:r>
              <a:rPr lang="en-US" dirty="0"/>
              <a:t> </a:t>
            </a:r>
            <a:r>
              <a:rPr lang="en-US" dirty="0" err="1"/>
              <a:t>gejoint</a:t>
            </a:r>
            <a:r>
              <a:rPr lang="en-US" dirty="0"/>
              <a:t> und </a:t>
            </a:r>
            <a:r>
              <a:rPr lang="en-US" dirty="0" err="1"/>
              <a:t>normalisiert</a:t>
            </a:r>
            <a:r>
              <a:rPr lang="en-US" dirty="0"/>
              <a:t> (Per-Capita-</a:t>
            </a:r>
            <a:r>
              <a:rPr lang="en-US" dirty="0" err="1"/>
              <a:t>Berechnung</a:t>
            </a:r>
            <a:r>
              <a:rPr lang="en-US" dirty="0"/>
              <a:t>)."</a:t>
            </a:r>
          </a:p>
          <a:p>
            <a:r>
              <a:rPr lang="en-US" b="1" dirty="0"/>
              <a:t>Der </a:t>
            </a:r>
            <a:r>
              <a:rPr lang="en-US" b="1" dirty="0" err="1"/>
              <a:t>Verdacht</a:t>
            </a:r>
            <a:r>
              <a:rPr lang="en-US" b="1" dirty="0"/>
              <a:t>:</a:t>
            </a:r>
            <a:r>
              <a:rPr lang="en-US" dirty="0"/>
              <a:t> PKS-</a:t>
            </a:r>
            <a:r>
              <a:rPr lang="en-US" dirty="0" err="1"/>
              <a:t>Daten</a:t>
            </a:r>
            <a:r>
              <a:rPr lang="en-US" dirty="0"/>
              <a:t> (</a:t>
            </a:r>
            <a:r>
              <a:rPr lang="en-US" dirty="0" err="1"/>
              <a:t>Überrepräsentation</a:t>
            </a:r>
            <a:r>
              <a:rPr lang="en-US" dirty="0"/>
              <a:t> </a:t>
            </a:r>
            <a:r>
              <a:rPr lang="en-US" dirty="0" err="1"/>
              <a:t>sichtbar</a:t>
            </a:r>
            <a:r>
              <a:rPr lang="en-US" dirty="0"/>
              <a:t>).</a:t>
            </a:r>
          </a:p>
          <a:p>
            <a:r>
              <a:rPr lang="en-US" b="1" dirty="0"/>
              <a:t>Der </a:t>
            </a:r>
            <a:r>
              <a:rPr lang="en-US" b="1" dirty="0" err="1"/>
              <a:t>Realitätscheck</a:t>
            </a:r>
            <a:r>
              <a:rPr lang="en-US" b="1" dirty="0"/>
              <a:t>:</a:t>
            </a:r>
            <a:r>
              <a:rPr lang="en-US" dirty="0"/>
              <a:t> PKS vs. Justiz (</a:t>
            </a:r>
            <a:r>
              <a:rPr lang="en-US" dirty="0" err="1"/>
              <a:t>Bestätigt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der </a:t>
            </a:r>
            <a:r>
              <a:rPr lang="en-US" dirty="0" err="1"/>
              <a:t>Verdacht</a:t>
            </a:r>
            <a:r>
              <a:rPr lang="en-US" dirty="0"/>
              <a:t>?).</a:t>
            </a:r>
          </a:p>
          <a:p>
            <a:r>
              <a:rPr lang="en-US" b="1" dirty="0"/>
              <a:t>Der </a:t>
            </a:r>
            <a:r>
              <a:rPr lang="en-US" b="1" dirty="0" err="1"/>
              <a:t>Härtetest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auf </a:t>
            </a:r>
            <a:r>
              <a:rPr lang="en-US" dirty="0" err="1"/>
              <a:t>schwere</a:t>
            </a:r>
            <a:r>
              <a:rPr lang="en-US" dirty="0"/>
              <a:t> </a:t>
            </a:r>
            <a:r>
              <a:rPr lang="en-US" dirty="0" err="1"/>
              <a:t>Delikte</a:t>
            </a:r>
            <a:r>
              <a:rPr lang="en-US" dirty="0"/>
              <a:t> (</a:t>
            </a:r>
            <a:r>
              <a:rPr lang="en-US" dirty="0" err="1"/>
              <a:t>Vergewaltigung</a:t>
            </a:r>
            <a:r>
              <a:rPr lang="en-US" dirty="0"/>
              <a:t>) und </a:t>
            </a:r>
            <a:r>
              <a:rPr lang="en-US" dirty="0" err="1"/>
              <a:t>Haftstrafen</a:t>
            </a:r>
            <a:r>
              <a:rPr lang="en-US" dirty="0"/>
              <a:t>.</a:t>
            </a:r>
          </a:p>
          <a:p>
            <a:r>
              <a:rPr lang="en-US" b="1" dirty="0"/>
              <a:t>Der Deep Dive:</a:t>
            </a:r>
            <a:r>
              <a:rPr lang="en-US" dirty="0"/>
              <a:t> Die Heatmap der </a:t>
            </a:r>
            <a:r>
              <a:rPr lang="en-US" dirty="0" err="1"/>
              <a:t>Delikte</a:t>
            </a:r>
            <a:r>
              <a:rPr lang="en-US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1BF627-B994-3BE0-F452-98ABA8D9C3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691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C298-06AD-2594-2B9B-4C924023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7A2AF6-FA92-55E0-F886-70F90F462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B685DF-758B-250A-44BC-A3C66C3CA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Regionale </a:t>
            </a:r>
            <a:r>
              <a:rPr lang="en-US" b="1" dirty="0" err="1"/>
              <a:t>Verteilung</a:t>
            </a:r>
            <a:r>
              <a:rPr lang="en-US" dirty="0"/>
              <a:t>: Welches </a:t>
            </a:r>
            <a:r>
              <a:rPr lang="en-US" dirty="0" err="1"/>
              <a:t>Delikt</a:t>
            </a:r>
            <a:r>
              <a:rPr lang="en-US" dirty="0"/>
              <a:t> </a:t>
            </a:r>
            <a:r>
              <a:rPr lang="en-US" dirty="0" err="1"/>
              <a:t>dominiert</a:t>
            </a:r>
            <a:r>
              <a:rPr lang="en-US" dirty="0"/>
              <a:t> in </a:t>
            </a:r>
            <a:r>
              <a:rPr lang="en-US" dirty="0" err="1"/>
              <a:t>welchem</a:t>
            </a:r>
            <a:r>
              <a:rPr lang="en-US" dirty="0"/>
              <a:t> </a:t>
            </a:r>
            <a:r>
              <a:rPr lang="en-US" dirty="0" err="1"/>
              <a:t>Bundesland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Racial Profiling-Mythos:</a:t>
            </a:r>
            <a:r>
              <a:rPr lang="en-US" dirty="0"/>
              <a:t> Sind </a:t>
            </a:r>
            <a:r>
              <a:rPr lang="en-US" dirty="0" err="1"/>
              <a:t>Nichtdeutsche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überrepräsentiert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von der </a:t>
            </a:r>
            <a:r>
              <a:rPr lang="en-US" dirty="0" err="1"/>
              <a:t>Polizei</a:t>
            </a:r>
            <a:r>
              <a:rPr lang="en-US" dirty="0"/>
              <a:t> </a:t>
            </a:r>
            <a:r>
              <a:rPr lang="en-US" dirty="0" err="1"/>
              <a:t>öfters</a:t>
            </a:r>
            <a:r>
              <a:rPr lang="en-US" dirty="0"/>
              <a:t> </a:t>
            </a:r>
            <a:r>
              <a:rPr lang="en-US" dirty="0" err="1"/>
              <a:t>kontrolliert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</a:t>
            </a:r>
            <a:r>
              <a:rPr lang="en-US" b="1" dirty="0" err="1"/>
              <a:t>Armuts</a:t>
            </a:r>
            <a:r>
              <a:rPr lang="en-US" b="1" dirty="0"/>
              <a:t>-Mythos: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Überrepräsentation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die </a:t>
            </a:r>
            <a:r>
              <a:rPr lang="en-US" dirty="0" err="1"/>
              <a:t>Soziale</a:t>
            </a:r>
            <a:r>
              <a:rPr lang="en-US" dirty="0"/>
              <a:t> Lage </a:t>
            </a:r>
            <a:r>
              <a:rPr lang="en-US" dirty="0" err="1"/>
              <a:t>erklärbar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</a:t>
            </a:r>
            <a:r>
              <a:rPr lang="en-US" b="1" dirty="0" err="1"/>
              <a:t>Bagatell</a:t>
            </a:r>
            <a:r>
              <a:rPr lang="en-US" b="1" dirty="0"/>
              <a:t>-Mythos: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verzerrt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Bagatell-Delikte</a:t>
            </a:r>
            <a:r>
              <a:rPr lang="en-US" dirty="0"/>
              <a:t>?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C835672-CCC3-92CA-6EC1-A1382C7C2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559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354F-9911-8590-15DB-389C73463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47DD33D-88DE-880E-C479-3725CA2EA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3431088-855F-D611-0F2E-3E88AC704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Regionale </a:t>
            </a:r>
            <a:r>
              <a:rPr lang="en-US" b="1" dirty="0" err="1"/>
              <a:t>Verteilung</a:t>
            </a:r>
            <a:r>
              <a:rPr lang="en-US" dirty="0"/>
              <a:t>: Welches </a:t>
            </a:r>
            <a:r>
              <a:rPr lang="en-US" dirty="0" err="1"/>
              <a:t>Delikt</a:t>
            </a:r>
            <a:r>
              <a:rPr lang="en-US" dirty="0"/>
              <a:t> </a:t>
            </a:r>
            <a:r>
              <a:rPr lang="en-US" dirty="0" err="1"/>
              <a:t>dominiert</a:t>
            </a:r>
            <a:r>
              <a:rPr lang="en-US" dirty="0"/>
              <a:t> in </a:t>
            </a:r>
            <a:r>
              <a:rPr lang="en-US" dirty="0" err="1"/>
              <a:t>welchem</a:t>
            </a:r>
            <a:r>
              <a:rPr lang="en-US" dirty="0"/>
              <a:t> </a:t>
            </a:r>
            <a:r>
              <a:rPr lang="en-US" dirty="0" err="1"/>
              <a:t>Bundesland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Racial Profiling-Mythos:</a:t>
            </a:r>
            <a:r>
              <a:rPr lang="en-US" dirty="0"/>
              <a:t> Sind </a:t>
            </a:r>
            <a:r>
              <a:rPr lang="en-US" dirty="0" err="1"/>
              <a:t>Nichtdeutsche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überrepräsentiert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von der </a:t>
            </a:r>
            <a:r>
              <a:rPr lang="en-US" dirty="0" err="1"/>
              <a:t>Polizei</a:t>
            </a:r>
            <a:r>
              <a:rPr lang="en-US" dirty="0"/>
              <a:t> </a:t>
            </a:r>
            <a:r>
              <a:rPr lang="en-US" dirty="0" err="1"/>
              <a:t>öfters</a:t>
            </a:r>
            <a:r>
              <a:rPr lang="en-US" dirty="0"/>
              <a:t> </a:t>
            </a:r>
            <a:r>
              <a:rPr lang="en-US" dirty="0" err="1"/>
              <a:t>kontrolliert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</a:t>
            </a:r>
            <a:r>
              <a:rPr lang="en-US" b="1" dirty="0" err="1"/>
              <a:t>Armuts</a:t>
            </a:r>
            <a:r>
              <a:rPr lang="en-US" b="1" dirty="0"/>
              <a:t>-Mythos: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Überrepräsentation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die </a:t>
            </a:r>
            <a:r>
              <a:rPr lang="en-US" dirty="0" err="1"/>
              <a:t>Soziale</a:t>
            </a:r>
            <a:r>
              <a:rPr lang="en-US" dirty="0"/>
              <a:t> Lage </a:t>
            </a:r>
            <a:r>
              <a:rPr lang="en-US" dirty="0" err="1"/>
              <a:t>erklärbar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</a:t>
            </a:r>
            <a:r>
              <a:rPr lang="en-US" b="1" dirty="0" err="1"/>
              <a:t>Bagatell</a:t>
            </a:r>
            <a:r>
              <a:rPr lang="en-US" b="1" dirty="0"/>
              <a:t>-Mythos: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verzerrt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Bagatell-Delikte</a:t>
            </a:r>
            <a:r>
              <a:rPr lang="en-US" dirty="0"/>
              <a:t>?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E9C155-91FF-AD25-DCC2-AC83EED61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2357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46DF-5F33-B4AD-3265-819035DD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532CBF0-C6CC-74B3-5E0B-EC5973A30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70877C-68A7-DABA-EDF6-42A5C06C6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Regionale </a:t>
            </a:r>
            <a:r>
              <a:rPr lang="en-US" b="1" dirty="0" err="1"/>
              <a:t>Verteilung</a:t>
            </a:r>
            <a:r>
              <a:rPr lang="en-US" dirty="0"/>
              <a:t>: Welches </a:t>
            </a:r>
            <a:r>
              <a:rPr lang="en-US" dirty="0" err="1"/>
              <a:t>Delikt</a:t>
            </a:r>
            <a:r>
              <a:rPr lang="en-US" dirty="0"/>
              <a:t> </a:t>
            </a:r>
            <a:r>
              <a:rPr lang="en-US" dirty="0" err="1"/>
              <a:t>dominiert</a:t>
            </a:r>
            <a:r>
              <a:rPr lang="en-US" dirty="0"/>
              <a:t> in </a:t>
            </a:r>
            <a:r>
              <a:rPr lang="en-US" dirty="0" err="1"/>
              <a:t>welchem</a:t>
            </a:r>
            <a:r>
              <a:rPr lang="en-US" dirty="0"/>
              <a:t> </a:t>
            </a:r>
            <a:r>
              <a:rPr lang="en-US" dirty="0" err="1"/>
              <a:t>Bundesland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Racial Profiling-Mythos:</a:t>
            </a:r>
            <a:r>
              <a:rPr lang="en-US" dirty="0"/>
              <a:t> Sind </a:t>
            </a:r>
            <a:r>
              <a:rPr lang="en-US" dirty="0" err="1"/>
              <a:t>Nichtdeutsche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überrepräsentiert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von der </a:t>
            </a:r>
            <a:r>
              <a:rPr lang="en-US" dirty="0" err="1"/>
              <a:t>Polizei</a:t>
            </a:r>
            <a:r>
              <a:rPr lang="en-US" dirty="0"/>
              <a:t> </a:t>
            </a:r>
            <a:r>
              <a:rPr lang="en-US" dirty="0" err="1"/>
              <a:t>öfters</a:t>
            </a:r>
            <a:r>
              <a:rPr lang="en-US" dirty="0"/>
              <a:t> </a:t>
            </a:r>
            <a:r>
              <a:rPr lang="en-US" dirty="0" err="1"/>
              <a:t>kontrolliert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</a:t>
            </a:r>
            <a:r>
              <a:rPr lang="en-US" b="1" dirty="0" err="1"/>
              <a:t>Armuts</a:t>
            </a:r>
            <a:r>
              <a:rPr lang="en-US" b="1" dirty="0"/>
              <a:t>-Mythos: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Überrepräsentation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die </a:t>
            </a:r>
            <a:r>
              <a:rPr lang="en-US" dirty="0" err="1"/>
              <a:t>Soziale</a:t>
            </a:r>
            <a:r>
              <a:rPr lang="en-US" dirty="0"/>
              <a:t> Lage </a:t>
            </a:r>
            <a:r>
              <a:rPr lang="en-US" dirty="0" err="1"/>
              <a:t>erklärbar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 </a:t>
            </a:r>
            <a:r>
              <a:rPr lang="en-US" b="1" dirty="0" err="1"/>
              <a:t>Bagatell</a:t>
            </a:r>
            <a:r>
              <a:rPr lang="en-US" b="1" dirty="0"/>
              <a:t>-Mythos: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verzerrt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Bagatell-Delikte</a:t>
            </a:r>
            <a:r>
              <a:rPr lang="en-US" dirty="0"/>
              <a:t>?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E5B8F3-8A2C-EC36-8962-809A45A80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9668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F7AA-183D-E3FC-B795-1E04A630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158DE10-55CF-EF6D-3E24-D743EC1D7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10641A2-43D4-ECFF-1659-ADDBD590F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Überrepresentation</a:t>
            </a:r>
            <a:r>
              <a:rPr lang="en-US" sz="1200" dirty="0"/>
              <a:t> </a:t>
            </a:r>
            <a:r>
              <a:rPr lang="en-US" sz="1200" dirty="0" err="1"/>
              <a:t>bleibt</a:t>
            </a:r>
            <a:r>
              <a:rPr lang="en-US" sz="1200" dirty="0"/>
              <a:t> </a:t>
            </a:r>
            <a:r>
              <a:rPr lang="en-US" sz="1200" dirty="0" err="1"/>
              <a:t>auch</a:t>
            </a:r>
            <a:r>
              <a:rPr lang="en-US" sz="1200" dirty="0"/>
              <a:t> in den JVAs </a:t>
            </a:r>
            <a:r>
              <a:rPr lang="en-US" sz="1200" dirty="0" err="1"/>
              <a:t>hoch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Bagatelldelikte</a:t>
            </a:r>
            <a:r>
              <a:rPr lang="en-US" sz="1200" dirty="0"/>
              <a:t> </a:t>
            </a:r>
            <a:r>
              <a:rPr lang="en-US" sz="1200" dirty="0" err="1"/>
              <a:t>scheinen</a:t>
            </a:r>
            <a:r>
              <a:rPr lang="en-US" sz="1200" dirty="0"/>
              <a:t> nicht für die </a:t>
            </a:r>
            <a:r>
              <a:rPr lang="en-US" sz="1200" dirty="0" err="1"/>
              <a:t>Verzerrung</a:t>
            </a:r>
            <a:r>
              <a:rPr lang="en-US" sz="1200" dirty="0"/>
              <a:t> </a:t>
            </a:r>
            <a:r>
              <a:rPr lang="en-US" sz="1200" dirty="0" err="1"/>
              <a:t>verantwortlich</a:t>
            </a:r>
            <a:endParaRPr lang="en-US" sz="1200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29B127-63AE-2C90-5AFF-23B0F7016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823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F0B6-2C8A-D97C-D6F9-F270B48B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2215AD5-332F-47CD-8F84-4AE48BB53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654F53-D354-5F0B-2A05-DC767AB18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6D860C-2781-FAE7-2301-F0901EDE9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218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1C3-E207-60D8-7C9D-251009E1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06BECAE-715B-9B2B-0848-8EDE34045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C19EF8-EF98-D76D-DE3D-91A45EFA1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lassen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Schluss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: Egal </a:t>
            </a:r>
            <a:r>
              <a:rPr lang="en-US" dirty="0" err="1"/>
              <a:t>ob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auf den </a:t>
            </a:r>
            <a:r>
              <a:rPr lang="en-US" dirty="0" err="1"/>
              <a:t>Verdacht</a:t>
            </a:r>
            <a:r>
              <a:rPr lang="en-US" dirty="0"/>
              <a:t>, das </a:t>
            </a:r>
            <a:r>
              <a:rPr lang="en-US" dirty="0" err="1"/>
              <a:t>Urteil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das </a:t>
            </a:r>
            <a:r>
              <a:rPr lang="en-US" dirty="0" err="1"/>
              <a:t>Gefängnis</a:t>
            </a:r>
            <a:r>
              <a:rPr lang="en-US" dirty="0"/>
              <a:t> </a:t>
            </a:r>
            <a:r>
              <a:rPr lang="en-US" dirty="0" err="1"/>
              <a:t>schauen</a:t>
            </a:r>
            <a:r>
              <a:rPr lang="en-US" dirty="0"/>
              <a:t> – die Gruppe der </a:t>
            </a:r>
            <a:r>
              <a:rPr lang="en-US" dirty="0" err="1"/>
              <a:t>Nichtdeutschen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in Deutschland </a:t>
            </a:r>
            <a:r>
              <a:rPr lang="en-US" dirty="0" err="1"/>
              <a:t>signifikant</a:t>
            </a:r>
            <a:r>
              <a:rPr lang="en-US" dirty="0"/>
              <a:t> </a:t>
            </a:r>
            <a:r>
              <a:rPr lang="en-US" dirty="0" err="1"/>
              <a:t>krimineller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die </a:t>
            </a:r>
            <a:r>
              <a:rPr lang="en-US" dirty="0" err="1"/>
              <a:t>Vergleichsgruppe</a:t>
            </a:r>
            <a:r>
              <a:rPr lang="en-US" dirty="0"/>
              <a:t>. Es </a:t>
            </a:r>
            <a:r>
              <a:rPr lang="en-US" dirty="0" err="1"/>
              <a:t>spielt</a:t>
            </a:r>
            <a:r>
              <a:rPr lang="en-US" dirty="0"/>
              <a:t> </a:t>
            </a:r>
            <a:r>
              <a:rPr lang="en-US" dirty="0" err="1"/>
              <a:t>keine</a:t>
            </a:r>
            <a:r>
              <a:rPr lang="en-US" dirty="0"/>
              <a:t> Rolle, </a:t>
            </a:r>
            <a:r>
              <a:rPr lang="en-US" dirty="0" err="1"/>
              <a:t>wer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Einzelfall</a:t>
            </a:r>
            <a:r>
              <a:rPr lang="en-US" dirty="0"/>
              <a:t> die Tat </a:t>
            </a:r>
            <a:r>
              <a:rPr lang="en-US" dirty="0" err="1"/>
              <a:t>begeht</a:t>
            </a:r>
            <a:r>
              <a:rPr lang="en-US" dirty="0"/>
              <a:t>. </a:t>
            </a:r>
            <a:r>
              <a:rPr lang="en-US" dirty="0" err="1"/>
              <a:t>Statistisch</a:t>
            </a:r>
            <a:r>
              <a:rPr lang="en-US" dirty="0"/>
              <a:t> </a:t>
            </a:r>
            <a:r>
              <a:rPr lang="en-US" dirty="0" err="1"/>
              <a:t>gesehen</a:t>
            </a:r>
            <a:r>
              <a:rPr lang="en-US" dirty="0"/>
              <a:t>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massive </a:t>
            </a:r>
            <a:r>
              <a:rPr lang="en-US" dirty="0" err="1"/>
              <a:t>Schieflage</a:t>
            </a:r>
            <a:r>
              <a:rPr lang="en-US" dirty="0"/>
              <a:t>, die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weder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Armut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Polizeifehlern</a:t>
            </a:r>
            <a:r>
              <a:rPr lang="en-US" dirty="0"/>
              <a:t> </a:t>
            </a:r>
            <a:r>
              <a:rPr lang="en-US" dirty="0" err="1"/>
              <a:t>wegdiskutieren</a:t>
            </a:r>
            <a:r>
              <a:rPr lang="en-US" dirty="0"/>
              <a:t> </a:t>
            </a:r>
            <a:r>
              <a:rPr lang="en-US" dirty="0" err="1"/>
              <a:t>lässt</a:t>
            </a:r>
            <a:r>
              <a:rPr lang="en-US" dirty="0"/>
              <a:t>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FA03AB-3EB7-EDE1-418D-36650C066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612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D49E-48C3-A1F1-BA22-7CAE4B7BE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A273A2-CE91-10A4-ECAC-3F468AF48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ED6C29-9AB2-B889-D302-18BFA5BB2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BF96E9-5E6C-974E-30DC-A80804711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ADD7A-5464-40FD-B5CC-4CA36D7CC1F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91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Projekt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37D85B5-8F26-48F9-9A40-02AA946E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429237"/>
            <a:ext cx="8207374" cy="35083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800" spc="0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Prof. Dr. Mustermann oder Projekttitel</a:t>
            </a:r>
            <a:endParaRPr lang="de-DE" sz="180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1B82292-8AF2-4EE1-90BD-12581586030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313" y="3962400"/>
            <a:ext cx="8207375" cy="44767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3200" b="0">
                <a:latin typeface="+mj-lt"/>
              </a:defRPr>
            </a:lvl1pPr>
          </a:lstStyle>
          <a:p>
            <a:pPr lvl="0"/>
            <a:r>
              <a:rPr lang="de-DE" dirty="0"/>
              <a:t>Titel der Präsentation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7121927E-5D27-4DA4-91BE-50EAE7ABB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88" y="4410312"/>
            <a:ext cx="8207374" cy="350838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2200" i="0" spc="0" baseline="0"/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2776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und Text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999580" y="471024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8234363" y="4884574"/>
            <a:ext cx="453230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‹#›</a:t>
            </a:fld>
            <a:endParaRPr lang="de-DE" dirty="0">
              <a:solidFill>
                <a:srgbClr val="002F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V="1">
            <a:off x="-1" y="4500000"/>
            <a:ext cx="45900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4500000"/>
            <a:ext cx="4572000" cy="396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7F43C94D-9979-47C0-B4BE-2FC43A65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99579" y="488826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i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Prof. Dr. Mustermann | Datum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0F45C553-1950-485B-A6E2-DF7EBF7E046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2438" y="447675"/>
            <a:ext cx="8239125" cy="571504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de-DE" dirty="0"/>
              <a:t>Text durch Klicken bearbeiten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B87AC671-D060-4A57-A554-255C900A9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1095376"/>
            <a:ext cx="8239125" cy="2952750"/>
          </a:xfrm>
        </p:spPr>
        <p:txBody>
          <a:bodyPr/>
          <a:lstStyle>
            <a:lvl1pPr eaLnBrk="1" latinLnBrk="0" hangingPunct="1">
              <a:defRPr sz="2200"/>
            </a:lvl1pPr>
            <a:lvl2pPr marL="432000" indent="-216000" eaLnBrk="1" latinLnBrk="0" hangingPunct="1">
              <a:buFont typeface="Arial" pitchFamily="34" charset="0"/>
              <a:buChar char="•"/>
              <a:defRPr sz="2000"/>
            </a:lvl2pPr>
            <a:lvl3pPr marL="684000" indent="-216000" eaLnBrk="1" latinLnBrk="0" hangingPunct="1"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</p:txBody>
      </p:sp>
      <p:cxnSp>
        <p:nvCxnSpPr>
          <p:cNvPr id="13" name="Gerade Verbindung 9">
            <a:extLst>
              <a:ext uri="{FF2B5EF4-FFF2-40B4-BE49-F238E27FC236}">
                <a16:creationId xmlns:a16="http://schemas.microsoft.com/office/drawing/2014/main" id="{777BF0FE-2C6F-41A8-AB53-05C956AC5A2D}"/>
              </a:ext>
            </a:extLst>
          </p:cNvPr>
          <p:cNvCxnSpPr/>
          <p:nvPr userDrawn="1"/>
        </p:nvCxnSpPr>
        <p:spPr>
          <a:xfrm>
            <a:off x="449704" y="339502"/>
            <a:ext cx="450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4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282">
          <p15:clr>
            <a:srgbClr val="FBAE40"/>
          </p15:clr>
        </p15:guide>
        <p15:guide id="24" orient="horz" pos="3150">
          <p15:clr>
            <a:srgbClr val="FBAE40"/>
          </p15:clr>
        </p15:guide>
        <p15:guide id="25" orient="horz" pos="690">
          <p15:clr>
            <a:srgbClr val="FBAE40"/>
          </p15:clr>
        </p15:guide>
        <p15:guide id="26" orient="horz" pos="894">
          <p15:clr>
            <a:srgbClr val="FBAE40"/>
          </p15:clr>
        </p15:guide>
        <p15:guide id="27" orient="horz" pos="255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2999580" y="471024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Titel der Veranstaltung</a:t>
            </a:r>
          </a:p>
        </p:txBody>
      </p:sp>
      <p:sp>
        <p:nvSpPr>
          <p:cNvPr id="6" name="Textplatzhalter 24"/>
          <p:cNvSpPr txBox="1">
            <a:spLocks/>
          </p:cNvSpPr>
          <p:nvPr userDrawn="1"/>
        </p:nvSpPr>
        <p:spPr>
          <a:xfrm>
            <a:off x="8234363" y="4884574"/>
            <a:ext cx="453230" cy="1542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de-DE" sz="1000" kern="1200" baseline="0" dirty="0">
                <a:solidFill>
                  <a:schemeClr val="tx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22FCD78-D96D-4F80-9AD7-6954839C45E1}" type="slidenum">
              <a:rPr lang="de-DE" smtClean="0">
                <a:solidFill>
                  <a:srgbClr val="002F5D"/>
                </a:solidFill>
                <a:latin typeface="Roboto Condensed" pitchFamily="2" charset="0"/>
                <a:ea typeface="Roboto Condensed" pitchFamily="2" charset="0"/>
              </a:rPr>
              <a:pPr>
                <a:defRPr/>
              </a:pPr>
              <a:t>‹#›</a:t>
            </a:fld>
            <a:endParaRPr lang="de-DE" dirty="0">
              <a:solidFill>
                <a:srgbClr val="002F5D"/>
              </a:solidFill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8" name="Rechteck 7"/>
          <p:cNvSpPr/>
          <p:nvPr userDrawn="1"/>
        </p:nvSpPr>
        <p:spPr>
          <a:xfrm flipV="1">
            <a:off x="-1" y="4500000"/>
            <a:ext cx="4590000" cy="396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 preferRelativeResize="0"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4500000"/>
            <a:ext cx="4572000" cy="39600"/>
          </a:xfrm>
          <a:prstGeom prst="rect">
            <a:avLst/>
          </a:prstGeom>
        </p:spPr>
      </p:pic>
      <p:sp>
        <p:nvSpPr>
          <p:cNvPr id="7" name="Textplatzhalter 24">
            <a:extLst>
              <a:ext uri="{FF2B5EF4-FFF2-40B4-BE49-F238E27FC236}">
                <a16:creationId xmlns:a16="http://schemas.microsoft.com/office/drawing/2014/main" id="{7F43C94D-9979-47C0-B4BE-2FC43A65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99579" y="4888263"/>
            <a:ext cx="5234783" cy="164805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lang="de-DE" sz="1000" i="1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r>
              <a:rPr lang="de-DE" dirty="0"/>
              <a:t>Prof. Dr. Mustermann | Datum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B87AC671-D060-4A57-A554-255C900A9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438" y="447675"/>
            <a:ext cx="8239125" cy="3600451"/>
          </a:xfrm>
        </p:spPr>
        <p:txBody>
          <a:bodyPr/>
          <a:lstStyle>
            <a:lvl1pPr eaLnBrk="1" latinLnBrk="0" hangingPunct="1">
              <a:defRPr sz="2200"/>
            </a:lvl1pPr>
            <a:lvl2pPr marL="432000" indent="-216000" eaLnBrk="1" latinLnBrk="0" hangingPunct="1">
              <a:buFont typeface="Arial" pitchFamily="34" charset="0"/>
              <a:buChar char="•"/>
              <a:defRPr sz="2000"/>
            </a:lvl2pPr>
            <a:lvl3pPr marL="684000" indent="-216000" eaLnBrk="1" latinLnBrk="0" hangingPunct="1">
              <a:buFont typeface="Arial" pitchFamily="34" charset="0"/>
              <a:buChar char="•"/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de-DE" dirty="0"/>
              <a:t>Textmasterformat bearbeiten</a:t>
            </a:r>
          </a:p>
          <a:p>
            <a:pPr lvl="1" eaLnBrk="1" latinLnBrk="0" hangingPunct="1"/>
            <a:r>
              <a:rPr lang="de-DE" dirty="0"/>
              <a:t>Zweite Ebene</a:t>
            </a:r>
          </a:p>
          <a:p>
            <a:pPr lvl="2" eaLnBrk="1" latinLnBrk="0" hangingPunct="1"/>
            <a:r>
              <a:rPr lang="de-DE" dirty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776908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3" orient="horz" pos="282">
          <p15:clr>
            <a:srgbClr val="FBAE40"/>
          </p15:clr>
        </p15:guide>
        <p15:guide id="24" orient="horz" pos="3150">
          <p15:clr>
            <a:srgbClr val="FBAE40"/>
          </p15:clr>
        </p15:guide>
        <p15:guide id="25" orient="horz" pos="690">
          <p15:clr>
            <a:srgbClr val="FBAE40"/>
          </p15:clr>
        </p15:guide>
        <p15:guide id="26" orient="horz" pos="894">
          <p15:clr>
            <a:srgbClr val="FBAE40"/>
          </p15:clr>
        </p15:guide>
        <p15:guide id="27" orient="horz" pos="255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81B82292-8AF2-4EE1-90BD-12581586030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8313" y="3943350"/>
            <a:ext cx="8207375" cy="447675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3200" b="0">
                <a:latin typeface="+mj-lt"/>
              </a:defRPr>
            </a:lvl1pPr>
          </a:lstStyle>
          <a:p>
            <a:pPr lvl="0"/>
            <a:r>
              <a:rPr lang="de-DE" dirty="0"/>
              <a:t>Vielen Dank für Ihre Aufmerksamkeit!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7121927E-5D27-4DA4-91BE-50EAE7ABB6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88" y="4410312"/>
            <a:ext cx="8207374" cy="350838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2200" i="0" spc="0" baseline="0"/>
            </a:lvl1pPr>
          </a:lstStyle>
          <a:p>
            <a:pPr lvl="0"/>
            <a:r>
              <a:rPr lang="de-DE" dirty="0"/>
              <a:t>Prof. Dr. Mustermann</a:t>
            </a:r>
          </a:p>
        </p:txBody>
      </p:sp>
    </p:spTree>
    <p:extLst>
      <p:ext uri="{BB962C8B-B14F-4D97-AF65-F5344CB8AC3E}">
        <p14:creationId xmlns:p14="http://schemas.microsoft.com/office/powerpoint/2010/main" val="279629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668A02D-DFF2-42B1-B020-E80114A2C164}"/>
              </a:ext>
            </a:extLst>
          </p:cNvPr>
          <p:cNvSpPr/>
          <p:nvPr userDrawn="1"/>
        </p:nvSpPr>
        <p:spPr>
          <a:xfrm>
            <a:off x="-1" y="3001788"/>
            <a:ext cx="9144000" cy="21417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A307A5-F3BD-449F-A720-99606ECBF1AE}"/>
              </a:ext>
            </a:extLst>
          </p:cNvPr>
          <p:cNvSpPr/>
          <p:nvPr userDrawn="1"/>
        </p:nvSpPr>
        <p:spPr>
          <a:xfrm flipV="1">
            <a:off x="-1" y="2970213"/>
            <a:ext cx="4590000" cy="792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0A91951-814D-4494-BDFC-29391A6A7ED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2970213"/>
            <a:ext cx="4572000" cy="792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5BE7D61-1263-4ED2-9CBA-3F828FF44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97" y="447675"/>
            <a:ext cx="156885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86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65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958" userDrawn="1">
          <p15:clr>
            <a:srgbClr val="F26B43"/>
          </p15:clr>
        </p15:guide>
        <p15:guide id="5" orient="horz" pos="28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18756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»Fünfte Ebene mit Anführungszeichen«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-1" y="4500000"/>
            <a:ext cx="914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22" y="4644000"/>
            <a:ext cx="1045904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52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8" r:id="rId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pos="3170">
          <p15:clr>
            <a:srgbClr val="F26B43"/>
          </p15:clr>
        </p15:guide>
        <p15:guide id="4" pos="3459">
          <p15:clr>
            <a:srgbClr val="F26B43"/>
          </p15:clr>
        </p15:guide>
        <p15:guide id="5" pos="3746">
          <p15:clr>
            <a:srgbClr val="F26B43"/>
          </p15:clr>
        </p15:guide>
        <p15:guide id="6" pos="4035">
          <p15:clr>
            <a:srgbClr val="F26B43"/>
          </p15:clr>
        </p15:guide>
        <p15:guide id="7" pos="4323">
          <p15:clr>
            <a:srgbClr val="F26B43"/>
          </p15:clr>
        </p15:guide>
        <p15:guide id="8" pos="4611">
          <p15:clr>
            <a:srgbClr val="F26B43"/>
          </p15:clr>
        </p15:guide>
        <p15:guide id="9" pos="4899">
          <p15:clr>
            <a:srgbClr val="F26B43"/>
          </p15:clr>
        </p15:guide>
        <p15:guide id="10" pos="5187">
          <p15:clr>
            <a:srgbClr val="F26B43"/>
          </p15:clr>
        </p15:guide>
        <p15:guide id="11" pos="5475">
          <p15:clr>
            <a:srgbClr val="F26B43"/>
          </p15:clr>
        </p15:guide>
        <p15:guide id="12" pos="2589">
          <p15:clr>
            <a:srgbClr val="F26B43"/>
          </p15:clr>
        </p15:guide>
        <p15:guide id="13" pos="2301">
          <p15:clr>
            <a:srgbClr val="F26B43"/>
          </p15:clr>
        </p15:guide>
        <p15:guide id="14" pos="2013">
          <p15:clr>
            <a:srgbClr val="F26B43"/>
          </p15:clr>
        </p15:guide>
        <p15:guide id="15" pos="1725">
          <p15:clr>
            <a:srgbClr val="F26B43"/>
          </p15:clr>
        </p15:guide>
        <p15:guide id="16" pos="1437">
          <p15:clr>
            <a:srgbClr val="F26B43"/>
          </p15:clr>
        </p15:guide>
        <p15:guide id="17" pos="1149">
          <p15:clr>
            <a:srgbClr val="F26B43"/>
          </p15:clr>
        </p15:guide>
        <p15:guide id="18" pos="862">
          <p15:clr>
            <a:srgbClr val="F26B43"/>
          </p15:clr>
        </p15:guide>
        <p15:guide id="19" pos="573">
          <p15:clr>
            <a:srgbClr val="F26B43"/>
          </p15:clr>
        </p15:guide>
        <p15:guide id="20" pos="2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0668A02D-DFF2-42B1-B020-E80114A2C164}"/>
              </a:ext>
            </a:extLst>
          </p:cNvPr>
          <p:cNvSpPr/>
          <p:nvPr userDrawn="1"/>
        </p:nvSpPr>
        <p:spPr>
          <a:xfrm>
            <a:off x="-1" y="3601863"/>
            <a:ext cx="9144000" cy="1541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9A307A5-F3BD-449F-A720-99606ECBF1AE}"/>
              </a:ext>
            </a:extLst>
          </p:cNvPr>
          <p:cNvSpPr/>
          <p:nvPr userDrawn="1"/>
        </p:nvSpPr>
        <p:spPr>
          <a:xfrm flipV="1">
            <a:off x="-1" y="3522663"/>
            <a:ext cx="4590000" cy="792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E0A91951-814D-4494-BDFC-29391A6A7ED9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382" y="3522663"/>
            <a:ext cx="4572000" cy="79200"/>
          </a:xfrm>
          <a:prstGeom prst="rect">
            <a:avLst/>
          </a:prstGeom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A5BE7D61-1263-4ED2-9CBA-3F828FF445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97" y="447675"/>
            <a:ext cx="156885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24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180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22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1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Roboto Condensed" pitchFamily="2" charset="0"/>
          <a:ea typeface="Roboto Condensed" pitchFamily="2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5465">
          <p15:clr>
            <a:srgbClr val="F26B43"/>
          </p15:clr>
        </p15:guide>
        <p15:guide id="3" pos="295">
          <p15:clr>
            <a:srgbClr val="F26B43"/>
          </p15:clr>
        </p15:guide>
        <p15:guide id="4" orient="horz" pos="2958">
          <p15:clr>
            <a:srgbClr val="F26B43"/>
          </p15:clr>
        </p15:guide>
        <p15:guide id="5" orient="horz" pos="28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ka.de/DE/AktuelleInformationen/StatistikenLagebilder/PolizeilicheKriminalstatistik/pks_nod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67665D-A8B7-4916-8278-DA9462A0A3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8312" y="3790950"/>
            <a:ext cx="8207375" cy="447675"/>
          </a:xfrm>
        </p:spPr>
        <p:txBody>
          <a:bodyPr/>
          <a:lstStyle/>
          <a:p>
            <a:r>
              <a:rPr lang="en-US" sz="1800" dirty="0" err="1"/>
              <a:t>Daten-Realität</a:t>
            </a:r>
            <a:r>
              <a:rPr lang="en-US" sz="1800" dirty="0"/>
              <a:t> </a:t>
            </a:r>
            <a:r>
              <a:rPr lang="en-US" sz="1800" dirty="0" err="1"/>
              <a:t>statt</a:t>
            </a:r>
            <a:r>
              <a:rPr lang="en-US" sz="1800" dirty="0"/>
              <a:t> Mythen: </a:t>
            </a:r>
            <a:r>
              <a:rPr lang="en-US" sz="1800" dirty="0" err="1"/>
              <a:t>Kriminalität</a:t>
            </a:r>
            <a:r>
              <a:rPr lang="en-US" sz="1800" dirty="0"/>
              <a:t> &amp; </a:t>
            </a:r>
            <a:r>
              <a:rPr lang="en-US" sz="1800" dirty="0" err="1"/>
              <a:t>Herkunft</a:t>
            </a:r>
            <a:r>
              <a:rPr lang="en-US" sz="1800" dirty="0"/>
              <a:t> </a:t>
            </a:r>
            <a:r>
              <a:rPr lang="en-US" sz="1800" dirty="0" err="1"/>
              <a:t>im</a:t>
            </a:r>
            <a:r>
              <a:rPr lang="en-US" sz="1800" dirty="0"/>
              <a:t> 40-Jahre-Vergleich</a:t>
            </a:r>
            <a:endParaRPr lang="de-DE" sz="1800" b="0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9EC0D7E-4F82-4D7C-AA83-F132976490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Justin Bergmann | 28.01.2026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DA73C7-2D2E-FD11-3FFA-21AF2B9C46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3268425"/>
            <a:ext cx="8207374" cy="350838"/>
          </a:xfrm>
        </p:spPr>
        <p:txBody>
          <a:bodyPr/>
          <a:lstStyle/>
          <a:p>
            <a:r>
              <a:rPr lang="de-DE" dirty="0"/>
              <a:t>Big Data Projekt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9EBDFB2-1A64-EBC1-47DC-6D7D58B93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4782" y="958620"/>
            <a:ext cx="2960856" cy="1832910"/>
          </a:xfrm>
          <a:prstGeom prst="rect">
            <a:avLst/>
          </a:prstGeom>
        </p:spPr>
      </p:pic>
      <p:pic>
        <p:nvPicPr>
          <p:cNvPr id="3" name="Picture 2" descr="A blue and black text&#10;&#10;AI-generated content may be incorrect.">
            <a:extLst>
              <a:ext uri="{FF2B5EF4-FFF2-40B4-BE49-F238E27FC236}">
                <a16:creationId xmlns:a16="http://schemas.microsoft.com/office/drawing/2014/main" id="{B10DCFC6-AB04-50CF-0E06-7C3898095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24" y="1259175"/>
            <a:ext cx="4043427" cy="118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71AD577-0745-430E-A382-84DD4DC64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69F98F-435D-4ABB-AE40-FA29924267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681234-D78A-45DE-B8D7-1D67513E9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Inhaltsverzeichnis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CEA19B9-3E31-470C-B1E4-A3D745DC8B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Motivation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Forschungsfragen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Acquisition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Pre-processing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Result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Einordnung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Fazit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24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B645-2232-DF82-7B38-DDD0C11C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25CFB01-6E2E-5926-B8D6-B1CB6477C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2FB2C3-33A9-F227-4022-2343AAE19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9804C2-FFEE-114D-A8C6-048D9238AEA5}"/>
              </a:ext>
            </a:extLst>
          </p:cNvPr>
          <p:cNvSpPr txBox="1"/>
          <p:nvPr/>
        </p:nvSpPr>
        <p:spPr>
          <a:xfrm>
            <a:off x="330741" y="1196901"/>
            <a:ext cx="7996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Saskia Esken (SPD-</a:t>
            </a:r>
            <a:r>
              <a:rPr lang="en-US" b="1" dirty="0" err="1"/>
              <a:t>Vorsitzende</a:t>
            </a:r>
            <a:r>
              <a:rPr lang="en-US" b="1" dirty="0"/>
              <a:t>), 2020:</a:t>
            </a:r>
            <a:endParaRPr lang="en-US" dirty="0"/>
          </a:p>
          <a:p>
            <a:pPr>
              <a:buNone/>
            </a:pPr>
            <a:r>
              <a:rPr lang="en-US" i="1" dirty="0"/>
              <a:t>"Auch in Deutschland </a:t>
            </a:r>
            <a:r>
              <a:rPr lang="en-US" i="1" dirty="0" err="1"/>
              <a:t>gibt</a:t>
            </a:r>
            <a:r>
              <a:rPr lang="en-US" i="1" dirty="0"/>
              <a:t> es </a:t>
            </a:r>
            <a:r>
              <a:rPr lang="en-US" i="1" dirty="0" err="1"/>
              <a:t>latenten</a:t>
            </a:r>
            <a:r>
              <a:rPr lang="en-US" i="1" dirty="0"/>
              <a:t> Rassismus in den </a:t>
            </a:r>
            <a:r>
              <a:rPr lang="en-US" i="1" dirty="0" err="1"/>
              <a:t>Reihen</a:t>
            </a:r>
            <a:r>
              <a:rPr lang="en-US" i="1" dirty="0"/>
              <a:t> der </a:t>
            </a:r>
            <a:r>
              <a:rPr lang="en-US" i="1" dirty="0" err="1"/>
              <a:t>Sicherheitskräfte</a:t>
            </a:r>
            <a:r>
              <a:rPr lang="en-US" i="1" dirty="0"/>
              <a:t>."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34BAC-40CF-E350-0C25-1A1FDC848FC2}"/>
              </a:ext>
            </a:extLst>
          </p:cNvPr>
          <p:cNvSpPr txBox="1"/>
          <p:nvPr/>
        </p:nvSpPr>
        <p:spPr>
          <a:xfrm>
            <a:off x="330741" y="2020954"/>
            <a:ext cx="76945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Amnesty International / </a:t>
            </a:r>
            <a:r>
              <a:rPr lang="en-US" b="1" dirty="0" err="1"/>
              <a:t>Gängiges</a:t>
            </a:r>
            <a:r>
              <a:rPr lang="en-US" b="1" dirty="0"/>
              <a:t> </a:t>
            </a:r>
            <a:r>
              <a:rPr lang="en-US" b="1" dirty="0" err="1"/>
              <a:t>Narrativ</a:t>
            </a:r>
            <a:r>
              <a:rPr lang="en-US" b="1" dirty="0"/>
              <a:t>:</a:t>
            </a:r>
            <a:endParaRPr lang="en-US" dirty="0"/>
          </a:p>
          <a:p>
            <a:pPr>
              <a:buNone/>
            </a:pPr>
            <a:r>
              <a:rPr lang="en-US" i="1" dirty="0"/>
              <a:t>"Die </a:t>
            </a:r>
            <a:r>
              <a:rPr lang="en-US" i="1" dirty="0" err="1"/>
              <a:t>Polizeistatistik</a:t>
            </a:r>
            <a:r>
              <a:rPr lang="en-US" i="1" dirty="0"/>
              <a:t> </a:t>
            </a:r>
            <a:r>
              <a:rPr lang="en-US" i="1" dirty="0" err="1"/>
              <a:t>bildet</a:t>
            </a:r>
            <a:r>
              <a:rPr lang="en-US" i="1" dirty="0"/>
              <a:t> nicht die </a:t>
            </a:r>
            <a:r>
              <a:rPr lang="en-US" i="1" dirty="0" err="1"/>
              <a:t>Kriminalität</a:t>
            </a:r>
            <a:r>
              <a:rPr lang="en-US" i="1" dirty="0"/>
              <a:t> ab, </a:t>
            </a:r>
            <a:r>
              <a:rPr lang="en-US" i="1" dirty="0" err="1"/>
              <a:t>sondern</a:t>
            </a:r>
            <a:r>
              <a:rPr lang="en-US" i="1" dirty="0"/>
              <a:t> das </a:t>
            </a:r>
            <a:r>
              <a:rPr lang="en-US" i="1" dirty="0" err="1"/>
              <a:t>Kontrollverhalten</a:t>
            </a:r>
            <a:r>
              <a:rPr lang="en-US" i="1" dirty="0"/>
              <a:t> der </a:t>
            </a:r>
            <a:r>
              <a:rPr lang="en-US" i="1" dirty="0" err="1"/>
              <a:t>Polizei</a:t>
            </a:r>
            <a:r>
              <a:rPr lang="en-US" i="1" dirty="0"/>
              <a:t>. </a:t>
            </a:r>
            <a:r>
              <a:rPr lang="en-US" i="1" dirty="0" err="1"/>
              <a:t>Wer</a:t>
            </a:r>
            <a:r>
              <a:rPr lang="en-US" i="1" dirty="0"/>
              <a:t> </a:t>
            </a:r>
            <a:r>
              <a:rPr lang="en-US" i="1" dirty="0" err="1"/>
              <a:t>öfter</a:t>
            </a:r>
            <a:r>
              <a:rPr lang="en-US" i="1" dirty="0"/>
              <a:t> </a:t>
            </a:r>
            <a:r>
              <a:rPr lang="en-US" i="1" dirty="0" err="1"/>
              <a:t>kontrolliert</a:t>
            </a:r>
            <a:r>
              <a:rPr lang="en-US" i="1" dirty="0"/>
              <a:t> </a:t>
            </a:r>
            <a:r>
              <a:rPr lang="en-US" i="1" dirty="0" err="1"/>
              <a:t>wird</a:t>
            </a:r>
            <a:r>
              <a:rPr lang="en-US" i="1" dirty="0"/>
              <a:t>, </a:t>
            </a:r>
            <a:r>
              <a:rPr lang="en-US" i="1" dirty="0" err="1"/>
              <a:t>taucht</a:t>
            </a:r>
            <a:r>
              <a:rPr lang="en-US" i="1" dirty="0"/>
              <a:t> </a:t>
            </a:r>
            <a:r>
              <a:rPr lang="en-US" i="1" dirty="0" err="1"/>
              <a:t>öfter</a:t>
            </a:r>
            <a:r>
              <a:rPr lang="en-US" i="1" dirty="0"/>
              <a:t> in der </a:t>
            </a:r>
            <a:r>
              <a:rPr lang="en-US" i="1" dirty="0" err="1"/>
              <a:t>Statistik</a:t>
            </a:r>
            <a:r>
              <a:rPr lang="en-US" i="1" dirty="0"/>
              <a:t> auf."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EE278-37EA-820C-52B5-BF8D22F7A0FD}"/>
              </a:ext>
            </a:extLst>
          </p:cNvPr>
          <p:cNvSpPr txBox="1"/>
          <p:nvPr/>
        </p:nvSpPr>
        <p:spPr>
          <a:xfrm>
            <a:off x="330741" y="314752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Thomas </a:t>
            </a:r>
            <a:r>
              <a:rPr lang="en-US" b="1" dirty="0" err="1"/>
              <a:t>Kutschaty</a:t>
            </a:r>
            <a:r>
              <a:rPr lang="en-US" b="1" dirty="0"/>
              <a:t> (SPD), NRW-</a:t>
            </a:r>
            <a:r>
              <a:rPr lang="en-US" b="1" dirty="0" err="1"/>
              <a:t>Wahlkampf</a:t>
            </a:r>
            <a:r>
              <a:rPr lang="en-US" b="1" dirty="0"/>
              <a:t>:</a:t>
            </a:r>
            <a:endParaRPr lang="en-US" dirty="0"/>
          </a:p>
          <a:p>
            <a:pPr>
              <a:buNone/>
            </a:pPr>
            <a:r>
              <a:rPr lang="en-US" i="1" dirty="0"/>
              <a:t>"</a:t>
            </a:r>
            <a:r>
              <a:rPr lang="en-US" i="1" dirty="0" err="1"/>
              <a:t>Kriminalität</a:t>
            </a:r>
            <a:r>
              <a:rPr lang="en-US" i="1" dirty="0"/>
              <a:t> </a:t>
            </a:r>
            <a:r>
              <a:rPr lang="en-US" i="1" dirty="0" err="1"/>
              <a:t>ist</a:t>
            </a:r>
            <a:r>
              <a:rPr lang="en-US" i="1" dirty="0"/>
              <a:t> </a:t>
            </a:r>
            <a:r>
              <a:rPr lang="en-US" i="1" dirty="0" err="1"/>
              <a:t>keine</a:t>
            </a:r>
            <a:r>
              <a:rPr lang="en-US" i="1" dirty="0"/>
              <a:t> Frage des Passes, </a:t>
            </a:r>
            <a:r>
              <a:rPr lang="en-US" i="1" dirty="0" err="1"/>
              <a:t>sondern</a:t>
            </a:r>
            <a:r>
              <a:rPr lang="en-US" i="1" dirty="0"/>
              <a:t> der </a:t>
            </a:r>
            <a:r>
              <a:rPr lang="en-US" i="1" dirty="0" err="1"/>
              <a:t>sozialen</a:t>
            </a:r>
            <a:r>
              <a:rPr lang="en-US" i="1" dirty="0"/>
              <a:t> Lage."</a:t>
            </a:r>
            <a:endParaRPr lang="en-US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46D5041E-A28E-C0F3-D064-DA7A155812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</p:spTree>
    <p:extLst>
      <p:ext uri="{BB962C8B-B14F-4D97-AF65-F5344CB8AC3E}">
        <p14:creationId xmlns:p14="http://schemas.microsoft.com/office/powerpoint/2010/main" val="271895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71AD577-0745-430E-A382-84DD4DC64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7A6A4C30-E131-F9C1-EE8A-961AD9D6C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Forschungsfragen</a:t>
            </a:r>
            <a:br>
              <a:rPr lang="de-DE" dirty="0"/>
            </a:b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08D6C-9DF6-01F2-DC94-1C1D5D7DC847}"/>
              </a:ext>
            </a:extLst>
          </p:cNvPr>
          <p:cNvSpPr txBox="1"/>
          <p:nvPr/>
        </p:nvSpPr>
        <p:spPr>
          <a:xfrm>
            <a:off x="452437" y="1002089"/>
            <a:ext cx="81444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Vier </a:t>
            </a:r>
            <a:r>
              <a:rPr lang="en-US" dirty="0" err="1"/>
              <a:t>Forschungsfragen</a:t>
            </a:r>
            <a:r>
              <a:rPr lang="en-US" dirty="0"/>
              <a:t> </a:t>
            </a:r>
            <a:r>
              <a:rPr lang="en-US" dirty="0" err="1"/>
              <a:t>welche</a:t>
            </a:r>
            <a:r>
              <a:rPr lang="en-US" dirty="0"/>
              <a:t> ich </a:t>
            </a:r>
            <a:r>
              <a:rPr lang="en-US" dirty="0" err="1"/>
              <a:t>mithilfe</a:t>
            </a:r>
            <a:r>
              <a:rPr lang="en-US" dirty="0"/>
              <a:t> der </a:t>
            </a:r>
            <a:r>
              <a:rPr lang="en-US" dirty="0" err="1"/>
              <a:t>Daten</a:t>
            </a:r>
            <a:r>
              <a:rPr lang="en-US" dirty="0"/>
              <a:t> </a:t>
            </a:r>
            <a:r>
              <a:rPr lang="en-US" dirty="0" err="1"/>
              <a:t>analysiert</a:t>
            </a:r>
            <a:r>
              <a:rPr lang="en-US" dirty="0"/>
              <a:t> </a:t>
            </a:r>
            <a:r>
              <a:rPr lang="en-US" dirty="0" err="1"/>
              <a:t>habe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Regionale </a:t>
            </a:r>
            <a:r>
              <a:rPr lang="en-US" b="1" dirty="0" err="1"/>
              <a:t>Verteilung</a:t>
            </a:r>
            <a:r>
              <a:rPr lang="en-US" dirty="0"/>
              <a:t>: Welches </a:t>
            </a:r>
            <a:r>
              <a:rPr lang="en-US" dirty="0" err="1"/>
              <a:t>Delikt</a:t>
            </a:r>
            <a:r>
              <a:rPr lang="en-US" dirty="0"/>
              <a:t> </a:t>
            </a:r>
            <a:r>
              <a:rPr lang="en-US" dirty="0" err="1"/>
              <a:t>dominiert</a:t>
            </a:r>
            <a:r>
              <a:rPr lang="en-US" dirty="0"/>
              <a:t> in </a:t>
            </a:r>
            <a:r>
              <a:rPr lang="en-US" dirty="0" err="1"/>
              <a:t>welchem</a:t>
            </a:r>
            <a:r>
              <a:rPr lang="en-US" dirty="0"/>
              <a:t> </a:t>
            </a:r>
            <a:r>
              <a:rPr lang="en-US" dirty="0" err="1"/>
              <a:t>Bundesland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Racial Profiling:</a:t>
            </a:r>
            <a:r>
              <a:rPr lang="en-US" dirty="0"/>
              <a:t> Sind </a:t>
            </a:r>
            <a:r>
              <a:rPr lang="en-US" dirty="0" err="1"/>
              <a:t>Nichtdeutsche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überrepräsentiert</a:t>
            </a:r>
            <a:r>
              <a:rPr lang="en-US" dirty="0"/>
              <a:t>, </a:t>
            </a:r>
            <a:r>
              <a:rPr lang="en-US" dirty="0" err="1"/>
              <a:t>weil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von der </a:t>
            </a:r>
            <a:r>
              <a:rPr lang="en-US" dirty="0" err="1"/>
              <a:t>Polizei</a:t>
            </a:r>
            <a:r>
              <a:rPr lang="en-US" dirty="0"/>
              <a:t> </a:t>
            </a:r>
            <a:r>
              <a:rPr lang="en-US" dirty="0" err="1"/>
              <a:t>öfters</a:t>
            </a:r>
            <a:r>
              <a:rPr lang="en-US" dirty="0"/>
              <a:t> </a:t>
            </a:r>
            <a:r>
              <a:rPr lang="en-US" dirty="0" err="1"/>
              <a:t>kontrolliert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Armut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Überrepräsentation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die </a:t>
            </a:r>
            <a:r>
              <a:rPr lang="en-US" dirty="0" err="1"/>
              <a:t>Soziale</a:t>
            </a:r>
            <a:r>
              <a:rPr lang="en-US" dirty="0"/>
              <a:t> Lage </a:t>
            </a:r>
            <a:r>
              <a:rPr lang="en-US" dirty="0" err="1"/>
              <a:t>erklärbar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Bagatelle: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 die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verzerrt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Bagatell-Delikte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95742FC-4EE9-D667-EC7D-364AAF274F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</p:spTree>
    <p:extLst>
      <p:ext uri="{BB962C8B-B14F-4D97-AF65-F5344CB8AC3E}">
        <p14:creationId xmlns:p14="http://schemas.microsoft.com/office/powerpoint/2010/main" val="112062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48A9F-ED88-1E2B-5FE4-CF911B11A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06DCDC5-3805-0FBB-BFA0-20A02B4A02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242C1-0D50-1B7C-B276-6AD7E26C0B0F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E005B8D6-3273-49B3-2DA2-3C53E30B55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8BB80E4D-B380-D9BB-F60F-B2D6096DD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438" y="447675"/>
            <a:ext cx="8239125" cy="571504"/>
          </a:xfrm>
        </p:spPr>
        <p:txBody>
          <a:bodyPr>
            <a:normAutofit/>
          </a:bodyPr>
          <a:lstStyle/>
          <a:p>
            <a:r>
              <a:rPr lang="de-DE" sz="2400" dirty="0"/>
              <a:t>Data Acquisition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8733872-D263-BF3F-7637-3A935083C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438" y="2394657"/>
            <a:ext cx="3118994" cy="1930805"/>
          </a:xfrm>
          <a:prstGeom prst="rect">
            <a:avLst/>
          </a:prstGeom>
        </p:spPr>
      </p:pic>
      <p:pic>
        <p:nvPicPr>
          <p:cNvPr id="14" name="Picture 13" descr="A blue and black text&#10;&#10;AI-generated content may be incorrect.">
            <a:extLst>
              <a:ext uri="{FF2B5EF4-FFF2-40B4-BE49-F238E27FC236}">
                <a16:creationId xmlns:a16="http://schemas.microsoft.com/office/drawing/2014/main" id="{31AFDEED-5F42-E28D-EC82-950561106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52" y="1333058"/>
            <a:ext cx="3653878" cy="10687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13FCE7-3A31-9978-5F6D-ED808A8C24A9}"/>
              </a:ext>
            </a:extLst>
          </p:cNvPr>
          <p:cNvSpPr txBox="1"/>
          <p:nvPr/>
        </p:nvSpPr>
        <p:spPr>
          <a:xfrm>
            <a:off x="4299817" y="1403960"/>
            <a:ext cx="44450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Quellen</a:t>
            </a:r>
            <a:r>
              <a:rPr lang="en-US" dirty="0"/>
              <a:t> </a:t>
            </a:r>
            <a:r>
              <a:rPr lang="en-US" dirty="0" err="1"/>
              <a:t>waren</a:t>
            </a:r>
            <a:r>
              <a:rPr lang="en-US" dirty="0"/>
              <a:t> </a:t>
            </a:r>
            <a:r>
              <a:rPr lang="en-US" dirty="0" err="1"/>
              <a:t>hauptsächlich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Genesis-Online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Statistischen</a:t>
            </a:r>
            <a:r>
              <a:rPr lang="en-US" dirty="0"/>
              <a:t> </a:t>
            </a:r>
            <a:r>
              <a:rPr lang="en-US" dirty="0" err="1"/>
              <a:t>Bundesamt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PKS </a:t>
            </a:r>
            <a:r>
              <a:rPr lang="en-US" dirty="0" err="1"/>
              <a:t>vom</a:t>
            </a:r>
            <a:r>
              <a:rPr lang="en-US" dirty="0"/>
              <a:t> BKA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2545DB-AFB8-07C9-D206-45A8D666A711}"/>
              </a:ext>
            </a:extLst>
          </p:cNvPr>
          <p:cNvSpPr txBox="1"/>
          <p:nvPr/>
        </p:nvSpPr>
        <p:spPr>
          <a:xfrm>
            <a:off x="1464335" y="3792850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*2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2C395E-C89E-CE3A-DF97-3B344A29EE76}"/>
              </a:ext>
            </a:extLst>
          </p:cNvPr>
          <p:cNvSpPr txBox="1"/>
          <p:nvPr/>
        </p:nvSpPr>
        <p:spPr>
          <a:xfrm>
            <a:off x="3974087" y="2366685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*1</a:t>
            </a:r>
          </a:p>
        </p:txBody>
      </p:sp>
    </p:spTree>
    <p:extLst>
      <p:ext uri="{BB962C8B-B14F-4D97-AF65-F5344CB8AC3E}">
        <p14:creationId xmlns:p14="http://schemas.microsoft.com/office/powerpoint/2010/main" val="154837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3F1BA-5812-D5F4-009C-DD5266B7E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8852188-9DD0-C325-3763-C4F47A258D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994AF-A127-05E2-C01F-145D6A4A7E47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CD1D5A8D-78F9-BB1E-ABE2-C3FE6B0B82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pic>
        <p:nvPicPr>
          <p:cNvPr id="1026" name="Picture 2" descr="Medallion Architecture Layers in Microsoft Fabric Lakehouse">
            <a:extLst>
              <a:ext uri="{FF2B5EF4-FFF2-40B4-BE49-F238E27FC236}">
                <a16:creationId xmlns:a16="http://schemas.microsoft.com/office/drawing/2014/main" id="{F52493A3-1D53-93A4-A63B-860305E1E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6" b="5579"/>
          <a:stretch>
            <a:fillRect/>
          </a:stretch>
        </p:blipFill>
        <p:spPr bwMode="auto">
          <a:xfrm>
            <a:off x="506055" y="441215"/>
            <a:ext cx="8297477" cy="393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F14B26-98F3-D453-4921-A74F6856D8C3}"/>
              </a:ext>
            </a:extLst>
          </p:cNvPr>
          <p:cNvSpPr txBox="1"/>
          <p:nvPr/>
        </p:nvSpPr>
        <p:spPr>
          <a:xfrm>
            <a:off x="8453072" y="4116989"/>
            <a:ext cx="5160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*3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12E747-4F69-C00B-067A-E858829C1A05}"/>
              </a:ext>
            </a:extLst>
          </p:cNvPr>
          <p:cNvSpPr txBox="1"/>
          <p:nvPr/>
        </p:nvSpPr>
        <p:spPr>
          <a:xfrm>
            <a:off x="2615979" y="3037398"/>
            <a:ext cx="1017767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Download der </a:t>
            </a:r>
            <a:r>
              <a:rPr lang="en-US" sz="1400" dirty="0" err="1"/>
              <a:t>Tabellen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E0C47-72F7-A69D-7189-36D23551DDB2}"/>
              </a:ext>
            </a:extLst>
          </p:cNvPr>
          <p:cNvSpPr txBox="1"/>
          <p:nvPr/>
        </p:nvSpPr>
        <p:spPr>
          <a:xfrm>
            <a:off x="4105928" y="3037397"/>
            <a:ext cx="1292783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Apache Spark: </a:t>
            </a:r>
            <a:r>
              <a:rPr lang="en-US" sz="1400" dirty="0" err="1"/>
              <a:t>Filterung</a:t>
            </a:r>
            <a:r>
              <a:rPr lang="en-US" sz="1400" dirty="0"/>
              <a:t> und 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79075-825C-095F-6416-F503EAD80EFB}"/>
              </a:ext>
            </a:extLst>
          </p:cNvPr>
          <p:cNvSpPr txBox="1"/>
          <p:nvPr/>
        </p:nvSpPr>
        <p:spPr>
          <a:xfrm>
            <a:off x="5675839" y="3037397"/>
            <a:ext cx="101776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Join der </a:t>
            </a:r>
            <a:r>
              <a:rPr lang="en-US" sz="1400" dirty="0" err="1"/>
              <a:t>Daten</a:t>
            </a:r>
            <a:endParaRPr lang="en-US" sz="1400" dirty="0"/>
          </a:p>
        </p:txBody>
      </p:sp>
      <p:sp>
        <p:nvSpPr>
          <p:cNvPr id="14" name="Inhaltsplatzhalter 7">
            <a:extLst>
              <a:ext uri="{FF2B5EF4-FFF2-40B4-BE49-F238E27FC236}">
                <a16:creationId xmlns:a16="http://schemas.microsoft.com/office/drawing/2014/main" id="{AFC334A1-F784-26E8-8C1D-BBC1C94AB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778" y="461370"/>
            <a:ext cx="2728084" cy="571504"/>
          </a:xfrm>
        </p:spPr>
        <p:txBody>
          <a:bodyPr>
            <a:normAutofit/>
          </a:bodyPr>
          <a:lstStyle/>
          <a:p>
            <a:r>
              <a:rPr lang="de-DE" sz="2000" dirty="0"/>
              <a:t>Data </a:t>
            </a:r>
            <a:r>
              <a:rPr lang="de-DE" sz="2000" dirty="0" err="1"/>
              <a:t>Pre-processing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741930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4347-BDCB-C2AD-D6E8-EF21F8E4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F3ABEF3-12D9-FFB1-2A52-023EA4C9A4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F479E-CF41-CD77-AE95-081EFABF17DE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3F42395-182D-9E5B-DD1A-1443A44EC3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B20B0-754B-757C-AF37-82D6C60635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67"/>
          <a:stretch>
            <a:fillRect/>
          </a:stretch>
        </p:blipFill>
        <p:spPr>
          <a:xfrm>
            <a:off x="452436" y="770011"/>
            <a:ext cx="7170062" cy="3722666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2B99B77B-202B-C886-0DEA-057D2B3C5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438" y="430585"/>
            <a:ext cx="8351094" cy="571504"/>
          </a:xfrm>
        </p:spPr>
        <p:txBody>
          <a:bodyPr>
            <a:normAutofit/>
          </a:bodyPr>
          <a:lstStyle/>
          <a:p>
            <a:r>
              <a:rPr lang="de-DE" sz="1800" dirty="0"/>
              <a:t>Data Analysis </a:t>
            </a:r>
            <a:r>
              <a:rPr lang="de-DE" sz="1800" dirty="0" err="1"/>
              <a:t>Heatmap</a:t>
            </a:r>
            <a:r>
              <a:rPr lang="de-DE" sz="1800" dirty="0"/>
              <a:t> häufigste Straftat Deutschland pro Bundesland</a:t>
            </a:r>
          </a:p>
        </p:txBody>
      </p:sp>
    </p:spTree>
    <p:extLst>
      <p:ext uri="{BB962C8B-B14F-4D97-AF65-F5344CB8AC3E}">
        <p14:creationId xmlns:p14="http://schemas.microsoft.com/office/powerpoint/2010/main" val="1770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E5796-DD47-4CCE-A332-9B620595A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1C69DAB-A229-6E47-A1F8-6B41321EAC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54ECE4-DF0C-E412-1B51-47107F7F6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Data Analysis Per Capita Nichtdeutsche Repräsentation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B77BB-253B-0F82-1E76-9C642EE2BDEC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8B302-82D2-7824-A8CA-D12460DE4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00"/>
          <a:stretch>
            <a:fillRect/>
          </a:stretch>
        </p:blipFill>
        <p:spPr>
          <a:xfrm>
            <a:off x="717252" y="906905"/>
            <a:ext cx="7702852" cy="3568089"/>
          </a:xfrm>
          <a:prstGeom prst="rect">
            <a:avLst/>
          </a:prstGeom>
        </p:spPr>
      </p:pic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EE04CD4-79F0-0C16-7543-04A8D72992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</p:spTree>
    <p:extLst>
      <p:ext uri="{BB962C8B-B14F-4D97-AF65-F5344CB8AC3E}">
        <p14:creationId xmlns:p14="http://schemas.microsoft.com/office/powerpoint/2010/main" val="308107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63DE4-9B55-48C3-B646-D03304FF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6BBF6E6-C90F-490A-B977-EC3AAF6DC9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D4D4EC-699C-AA72-6B23-9F90E996B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Data Analysis Per Capita Vergleich Polizei gegenüber Justiz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1D3F1-9EAE-D3FE-9F02-5379A5437A8D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BBB5D425-7D49-458E-6EA4-7A606D9E5D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1502F-8C3E-DE33-D912-EB5EDEEAA7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10"/>
          <a:stretch>
            <a:fillRect/>
          </a:stretch>
        </p:blipFill>
        <p:spPr>
          <a:xfrm>
            <a:off x="1064303" y="903514"/>
            <a:ext cx="6869392" cy="345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6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D5130-B2F0-0BF4-0BB5-3E0CD833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ACD378C-C007-F902-EE5C-7778175F9F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FACC66-EF26-6209-3569-9A559DF26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Data Analysis Überrepräsentation bei Vergewaltigungen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EBA97-D87C-97F9-98BB-7D1AC81942D5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2A927C1-DC62-74A6-2608-9A0E3B4283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3F91C-A4CB-9BDB-E213-24994FD5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62"/>
          <a:stretch>
            <a:fillRect/>
          </a:stretch>
        </p:blipFill>
        <p:spPr>
          <a:xfrm>
            <a:off x="905720" y="936885"/>
            <a:ext cx="7221842" cy="342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87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94F8-5150-CE3C-55CE-FD6137B7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9D6146E-6B2B-ED73-B69F-B2AD96496F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2EE068-9CBB-9666-A909-A797418A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438" y="420206"/>
            <a:ext cx="8620000" cy="571504"/>
          </a:xfrm>
        </p:spPr>
        <p:txBody>
          <a:bodyPr>
            <a:normAutofit/>
          </a:bodyPr>
          <a:lstStyle/>
          <a:p>
            <a:r>
              <a:rPr lang="de-DE" sz="2000" dirty="0"/>
              <a:t>Data Analysis Faktische Überrepräsentation im Strafvollzug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296E4-0CF6-95D2-4404-DC49102590CD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517E2E7-272B-D4CF-0C68-08DEBA4DAC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93E986-9BCB-C096-ADA5-0CF6E970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43"/>
          <a:stretch>
            <a:fillRect/>
          </a:stretch>
        </p:blipFill>
        <p:spPr>
          <a:xfrm>
            <a:off x="1346111" y="857157"/>
            <a:ext cx="6306367" cy="359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60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3AF5-1217-7EB6-1077-22D2DEC4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5388CB9-5EE8-1111-067D-948A48796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01FD22B-738D-08FF-1DE6-2111A092F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Einordnung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BD32A-5919-3BA8-22E0-E9A4D272DCC8}"/>
              </a:ext>
            </a:extLst>
          </p:cNvPr>
          <p:cNvSpPr txBox="1"/>
          <p:nvPr/>
        </p:nvSpPr>
        <p:spPr>
          <a:xfrm>
            <a:off x="340468" y="1002089"/>
            <a:ext cx="767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Warnaufkleber: Gefahrenstelle">
            <a:extLst>
              <a:ext uri="{FF2B5EF4-FFF2-40B4-BE49-F238E27FC236}">
                <a16:creationId xmlns:a16="http://schemas.microsoft.com/office/drawing/2014/main" id="{3DD497F3-8668-B519-9A16-0DF13C5D4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26" y="1002089"/>
            <a:ext cx="2903157" cy="290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CA6A6-8BC5-7AE0-43F0-ECB9013214FD}"/>
              </a:ext>
            </a:extLst>
          </p:cNvPr>
          <p:cNvSpPr txBox="1"/>
          <p:nvPr/>
        </p:nvSpPr>
        <p:spPr>
          <a:xfrm>
            <a:off x="4313540" y="1135006"/>
            <a:ext cx="41250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 </a:t>
            </a:r>
            <a:r>
              <a:rPr lang="en-US" dirty="0" err="1"/>
              <a:t>Nenner</a:t>
            </a:r>
            <a:r>
              <a:rPr lang="en-US" dirty="0"/>
              <a:t>-Problem </a:t>
            </a:r>
            <a:r>
              <a:rPr lang="en-US" dirty="0" err="1"/>
              <a:t>Verzerrung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Touristen</a:t>
            </a:r>
            <a:r>
              <a:rPr lang="en-US" dirty="0"/>
              <a:t>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Pendler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stationierte</a:t>
            </a:r>
            <a:r>
              <a:rPr lang="en-US" dirty="0"/>
              <a:t> </a:t>
            </a:r>
            <a:r>
              <a:rPr lang="en-US" dirty="0" err="1"/>
              <a:t>Streitkräfte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Dunkelziffer</a:t>
            </a:r>
            <a:endParaRPr lang="en-US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C1AEFE7-199A-FA7C-B33D-043749EC1F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C2A660-6013-60EE-C98F-99D3E4455502}"/>
              </a:ext>
            </a:extLst>
          </p:cNvPr>
          <p:cNvSpPr txBox="1"/>
          <p:nvPr/>
        </p:nvSpPr>
        <p:spPr>
          <a:xfrm>
            <a:off x="3521398" y="3715551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*4</a:t>
            </a:r>
          </a:p>
        </p:txBody>
      </p:sp>
    </p:spTree>
    <p:extLst>
      <p:ext uri="{BB962C8B-B14F-4D97-AF65-F5344CB8AC3E}">
        <p14:creationId xmlns:p14="http://schemas.microsoft.com/office/powerpoint/2010/main" val="4084335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93A0-1BA5-7247-05FF-582A317B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D1128F7-F670-C523-26A3-A41D0DCB78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D1A521-9C57-7114-FEFA-2477F82BB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Fazit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9E4029-6618-FB4E-AD76-7FB9ACDB6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8" y="1045551"/>
            <a:ext cx="79303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Validierung</a:t>
            </a:r>
            <a:r>
              <a:rPr lang="en-US" b="1" dirty="0"/>
              <a:t> </a:t>
            </a:r>
            <a:r>
              <a:rPr lang="en-US" b="1" dirty="0" err="1"/>
              <a:t>durch</a:t>
            </a:r>
            <a:r>
              <a:rPr lang="en-US" b="1" dirty="0"/>
              <a:t> Justiz:</a:t>
            </a:r>
            <a:r>
              <a:rPr lang="en-US" dirty="0"/>
              <a:t> Haft- und </a:t>
            </a:r>
            <a:r>
              <a:rPr lang="en-US" dirty="0" err="1"/>
              <a:t>Urteilsdaten</a:t>
            </a:r>
            <a:r>
              <a:rPr lang="en-US" dirty="0"/>
              <a:t> </a:t>
            </a:r>
            <a:r>
              <a:rPr lang="en-US" dirty="0" err="1"/>
              <a:t>bestätigen</a:t>
            </a:r>
            <a:r>
              <a:rPr lang="en-US" dirty="0"/>
              <a:t> PKS-Trends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Statistische</a:t>
            </a:r>
            <a:r>
              <a:rPr lang="en-US" b="1" dirty="0"/>
              <a:t> </a:t>
            </a:r>
            <a:r>
              <a:rPr lang="en-US" b="1" dirty="0" err="1"/>
              <a:t>Evidenz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Konsistente</a:t>
            </a:r>
            <a:r>
              <a:rPr lang="en-US" dirty="0"/>
              <a:t> </a:t>
            </a:r>
            <a:r>
              <a:rPr lang="en-US" dirty="0" err="1"/>
              <a:t>Überrepräsentation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Schwerkriminalität</a:t>
            </a: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Technologie:</a:t>
            </a:r>
            <a:r>
              <a:rPr lang="en-US" dirty="0"/>
              <a:t> Apache Spark </a:t>
            </a:r>
            <a:r>
              <a:rPr lang="en-US" dirty="0" err="1"/>
              <a:t>ermöglicht</a:t>
            </a:r>
            <a:r>
              <a:rPr lang="en-US" dirty="0"/>
              <a:t> </a:t>
            </a:r>
            <a:r>
              <a:rPr lang="en-US" dirty="0" err="1"/>
              <a:t>performates</a:t>
            </a:r>
            <a:r>
              <a:rPr lang="en-US" dirty="0"/>
              <a:t> ETL-Pipelining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Datenqualität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Exzellente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der PKS und Genesis </a:t>
            </a:r>
            <a:r>
              <a:rPr lang="en-US" dirty="0" err="1"/>
              <a:t>Datenbank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8E76E55-52F0-6180-F1AD-EAD9081767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</p:spTree>
    <p:extLst>
      <p:ext uri="{BB962C8B-B14F-4D97-AF65-F5344CB8AC3E}">
        <p14:creationId xmlns:p14="http://schemas.microsoft.com/office/powerpoint/2010/main" val="277601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4D67665D-A8B7-4916-8278-DA9462A0A3E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de-DE"/>
              <a:t>Vielen Dank für Ihre Aufmerksamkeit!</a:t>
            </a: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208454-949B-B938-AEA5-DBA3D6E8D644}"/>
              </a:ext>
            </a:extLst>
          </p:cNvPr>
          <p:cNvSpPr txBox="1"/>
          <p:nvPr/>
        </p:nvSpPr>
        <p:spPr>
          <a:xfrm>
            <a:off x="1009816" y="1661822"/>
            <a:ext cx="6440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“One of the great mistakes is to judge policies and programs by their intentions rather than their results.”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— </a:t>
            </a:r>
            <a:r>
              <a:rPr lang="en-US" b="1" dirty="0"/>
              <a:t>Milton Friedman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411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0BB3-F7CB-2999-EEC3-86E3D272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51FB7A-157A-1F0A-3DBD-7BF656CF3124}"/>
              </a:ext>
            </a:extLst>
          </p:cNvPr>
          <p:cNvSpPr txBox="1"/>
          <p:nvPr/>
        </p:nvSpPr>
        <p:spPr>
          <a:xfrm>
            <a:off x="419980" y="612474"/>
            <a:ext cx="846957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Quellenverzeichnis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*1 https://</a:t>
            </a:r>
            <a:r>
              <a:rPr lang="en-US" sz="1400" dirty="0" err="1"/>
              <a:t>de.linkedin.com</a:t>
            </a:r>
            <a:r>
              <a:rPr lang="en-US" sz="1400" dirty="0"/>
              <a:t>/posts/statistisches-bundesamt-destatis_statistischesbundesamt-datenbank-activity-7346424773578551296-ygUL</a:t>
            </a:r>
          </a:p>
          <a:p>
            <a:r>
              <a:rPr lang="en-US" sz="1400" dirty="0"/>
              <a:t>*2 </a:t>
            </a:r>
            <a:r>
              <a:rPr lang="en-US" sz="1400" dirty="0">
                <a:hlinkClick r:id="rId3"/>
              </a:rPr>
              <a:t>https://www.bka.de/DE/AktuelleInformationen/StatistikenLagebilder/PolizeilicheKriminalstatistik/pks_node.html</a:t>
            </a:r>
            <a:endParaRPr lang="en-US" sz="1400" dirty="0"/>
          </a:p>
          <a:p>
            <a:r>
              <a:rPr lang="en-US" sz="1400" dirty="0"/>
              <a:t>*3 https://</a:t>
            </a:r>
            <a:r>
              <a:rPr lang="en-US" sz="1400" dirty="0" err="1"/>
              <a:t>www.c-sharpcorner.com</a:t>
            </a:r>
            <a:r>
              <a:rPr lang="en-US" sz="1400" dirty="0"/>
              <a:t>/article/undertanding-medallion-architecture-in-microsoft-fabric-lakehouse/</a:t>
            </a:r>
          </a:p>
          <a:p>
            <a:r>
              <a:rPr lang="en-US" sz="1400" dirty="0"/>
              <a:t>*4 https://</a:t>
            </a:r>
            <a:r>
              <a:rPr lang="en-US" sz="1400" dirty="0" err="1"/>
              <a:t>www.reichelt.de</a:t>
            </a:r>
            <a:r>
              <a:rPr lang="en-US" sz="1400" dirty="0"/>
              <a:t>/de/de/shop/</a:t>
            </a:r>
            <a:r>
              <a:rPr lang="en-US" sz="1400" dirty="0" err="1"/>
              <a:t>produkt</a:t>
            </a:r>
            <a:r>
              <a:rPr lang="en-US" sz="1400" dirty="0"/>
              <a:t>/warnaufkleber_gefahrenstelle-54447?PROVID=2788&amp;gad_source=1&amp;gad_campaignid=19009429406&amp;gbraid=0AAAAADwnxtag9GDlFUDYpfCv-8toWd5dz&amp;gclid=Cj0KCQiA4eHLBhCzARIsAJ2NZoIXn2JWv2fDcBeqL82x7N23CGFMrCVNsXzYMoiDSKT0P7pxMTpBzOsaAkC2EALw_wcB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C8C4B8A8-D05F-8CE0-D3CE-AAE7491CB1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99579" y="4888263"/>
            <a:ext cx="5234783" cy="164805"/>
          </a:xfrm>
        </p:spPr>
        <p:txBody>
          <a:bodyPr/>
          <a:lstStyle/>
          <a:p>
            <a:r>
              <a:rPr lang="de-DE" dirty="0"/>
              <a:t>Justin Bergmann | 28.01.2026</a:t>
            </a:r>
          </a:p>
        </p:txBody>
      </p:sp>
      <p:sp>
        <p:nvSpPr>
          <p:cNvPr id="3" name="Textplatzhalter 1">
            <a:extLst>
              <a:ext uri="{FF2B5EF4-FFF2-40B4-BE49-F238E27FC236}">
                <a16:creationId xmlns:a16="http://schemas.microsoft.com/office/drawing/2014/main" id="{FC531007-FE34-D34E-AFA4-6EC5322C1A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Big Data</a:t>
            </a:r>
          </a:p>
        </p:txBody>
      </p:sp>
    </p:spTree>
    <p:extLst>
      <p:ext uri="{BB962C8B-B14F-4D97-AF65-F5344CB8AC3E}">
        <p14:creationId xmlns:p14="http://schemas.microsoft.com/office/powerpoint/2010/main" val="1988593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| Titelfolie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A5A41FBA-E7E8-204A-B60B-EED3701CD955}"/>
    </a:ext>
  </a:extLst>
</a:theme>
</file>

<file path=ppt/theme/theme2.xml><?xml version="1.0" encoding="utf-8"?>
<a:theme xmlns:a="http://schemas.openxmlformats.org/drawingml/2006/main" name="Master | Inhaltseiten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AB44FE18-AF59-DD48-9B50-316346309FA1}"/>
    </a:ext>
  </a:extLst>
</a:theme>
</file>

<file path=ppt/theme/theme3.xml><?xml version="1.0" encoding="utf-8"?>
<a:theme xmlns:a="http://schemas.openxmlformats.org/drawingml/2006/main" name="Master | Schlussfolie">
  <a:themeElements>
    <a:clrScheme name="Universität">
      <a:dk1>
        <a:srgbClr val="002F5D"/>
      </a:dk1>
      <a:lt1>
        <a:srgbClr val="FFFFFF"/>
      </a:lt1>
      <a:dk2>
        <a:srgbClr val="002F5D"/>
      </a:dk2>
      <a:lt2>
        <a:srgbClr val="FFFFFF"/>
      </a:lt2>
      <a:accent1>
        <a:srgbClr val="AE9A63"/>
      </a:accent1>
      <a:accent2>
        <a:srgbClr val="7682A5"/>
      </a:accent2>
      <a:accent3>
        <a:srgbClr val="8E98B7"/>
      </a:accent3>
      <a:accent4>
        <a:srgbClr val="FFFFFF"/>
      </a:accent4>
      <a:accent5>
        <a:srgbClr val="FFFFFF"/>
      </a:accent5>
      <a:accent6>
        <a:srgbClr val="FFFFFF"/>
      </a:accent6>
      <a:hlink>
        <a:srgbClr val="7682A5"/>
      </a:hlink>
      <a:folHlink>
        <a:srgbClr val="A8AFC8"/>
      </a:folHlink>
    </a:clrScheme>
    <a:fontScheme name="UniJena_Hausschrift_Roboto">
      <a:majorFont>
        <a:latin typeface="Roboto Serif"/>
        <a:ea typeface=""/>
        <a:cs typeface=""/>
      </a:majorFont>
      <a:minorFont>
        <a:latin typeface="Roboto Condensed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alpha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i Jena PowerPoint-Präsentation simpel 16zu9-Vorlage" id="{FCCC3755-4927-6F40-8D6E-443D4E23719B}" vid="{EBABBD17-4A96-A145-BA66-910B72641CF3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 | Titelfolie</Template>
  <TotalTime>1059</TotalTime>
  <Words>1026</Words>
  <Application>Microsoft Macintosh PowerPoint</Application>
  <PresentationFormat>On-screen Show (16:9)</PresentationFormat>
  <Paragraphs>152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Roboto Serif</vt:lpstr>
      <vt:lpstr>Roboto Condensed</vt:lpstr>
      <vt:lpstr>Master | Titelfolie</vt:lpstr>
      <vt:lpstr>Master | Inhaltseiten</vt:lpstr>
      <vt:lpstr>Master | Schlussfolie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Bergmann</dc:creator>
  <cp:lastModifiedBy>Justin Bergmann</cp:lastModifiedBy>
  <cp:revision>25</cp:revision>
  <cp:lastPrinted>2017-04-12T09:06:57Z</cp:lastPrinted>
  <dcterms:created xsi:type="dcterms:W3CDTF">2026-01-25T20:57:51Z</dcterms:created>
  <dcterms:modified xsi:type="dcterms:W3CDTF">2026-01-28T13:28:42Z</dcterms:modified>
</cp:coreProperties>
</file>